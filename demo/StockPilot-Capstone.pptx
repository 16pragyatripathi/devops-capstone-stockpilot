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Lst>
  <p:notesMasterIdLst>
    <p:notesMasterId r:id="rId11"/>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tion" id="{614363ab-674e-f5f0-931d-9404159a876f}">
          <p14:sldIdLst>
            <p14:sldId id="256"/>
          </p14:sldIdLst>
        </p14:section>
        <p14:section name="Application" id="{f222c818-b5c5-d60c-79d3-94cea6e4888a}">
          <p14:sldIdLst>
            <p14:sldId id="257"/>
          </p14:sldIdLst>
        </p14:section>
        <p14:section name="Delivery" id="{ac5ce483-860a-2727-ae35-7426346f972f}">
          <p14:sldIdLst>
            <p14:sldId id="258"/>
            <p14:sldId id="259"/>
          </p14:sldIdLst>
        </p14:section>
        <p14:section name="Infrastructure" id="{f3fec51e-2c0d-3447-bc86-d210bf737e26}">
          <p14:sldIdLst>
            <p14:sldId id="260"/>
            <p14:sldId id="261"/>
          </p14:sldIdLst>
        </p14:section>
        <p14:section name="Operations" id="{98a33e5f-d665-98f9-94ee-8c7d22c0f822}">
          <p14:sldIdLst>
            <p14:sldId id="262"/>
            <p14:sldId id="263"/>
          </p14:sldIdLst>
        </p14:section>
        <p14:section name="Summary" id="{5bd28c88-657f-5dd2-957f-4666e01577cb}">
          <p14:sldIdLst>
            <p14:sldId id="264"/>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notesMaster" Target="notesMasters/notesMaster1.xml"/><Relationship Id="rId12" Type="http://schemas.openxmlformats.org/officeDocument/2006/relationships/presProps" Target="presProps.xml"/><Relationship Id="rId13" Type="http://schemas.openxmlformats.org/officeDocument/2006/relationships/viewProps" Target="viewProps.xml"/><Relationship Id="rId14" Type="http://schemas.openxmlformats.org/officeDocument/2006/relationships/theme" Target="theme/theme1.xml"/><Relationship Id="rId15"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Hi, I'm Pragya Tripathi, roll number 10032. This is StockPilot, my DevOps final capstone. StockPilot is an inventory management app for warehouses and offices: it tracks products, categories and every stock movement, and warns you before something runs out. But the real subject of this project is the journey: how one Git commit travels through tests, security scanning, a container registry and Terraform-built AWS infrastructure, into a monitored, autoscaling Kubernetes cluster.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application. The frontend is React with Vite: a dashboard with KPIs, a reorder list, value by category, and pages for products, stock movements and categories. It also works on a phone. The backend is FastAPI with fourteen REST endpoints. Every quantity change goes through a stock adjustment, so there's a full audit trail. Data lives in PostgreSQL, and the schema is managed by Alembic migrations. There are twenty-one pytest tests that run against an in-memory SQLite database, so they never touch the real database, plus a ruff lint check. The backend also exposes health, readiness and Prometheus metrics endpoints, which Kubernetes and monitoring use later.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delivery path. A push to main starts GitHub Actions. First the backend is linted and tested and the React frontend is built. If that passes, both Docker images are built and scanned with Trivy. If any test fails, or Trivy finds a high or critical vulnerability that has a fix, the pipeline stops and nothing is released. Images are pushed to GitHub Container Registry, tagged with the Git commit SHA, never 'latest', so every running pod traces back to an exact commit. Finally Helm deploys the new version to Amazon EKS. The deploy job logs in to AWS with GitHub OIDC, so no AWS access keys are stored in GitHub at all.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a real pipeline run: lint and tests, frontend build, the build-scan-push job for each image, and the deploy to EKS, all green. Trivy reports zero fixable high or critical vulnerabilities. It did find some at first: four high CVEs in libraries that pip bundles inside the base image. The app never runs pip, so I removed pip from the final image and the scan came back clean. Both containers run as non-root users, and every third-party GitHub Action is pinned to a commit SHA, which protects the pipeline if an action's tags are ever tampered with.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All of the AWS infrastructure is written in Terraform, not clicked together in the console. It creates a VPC across two availability zones, with public subnets for the load balancer and NAT gateway, and private subnets for the worker nodes. On top of that is an EKS cluster, version 1.36, with a managed node group of two t3.medium instances and the core add-ons. Terraform also creates the GitHub OIDC role that the pipeline uses, and only the main branch of this repository can assume it. That's sixty-four resources from one reviewed plan. Here you can see the four subnets and the two nodes in the AWS console. After the demo I destroyed everything with terraform destroy, so nothing keeps costing money.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application is packaged as a Helm chart, so one command deploys everything. Here's the result on EKS: two backend pods, two frontend pods and PostgreSQL, all running, with ClusterIP services and both autoscalers. The Ingress sends slash to the React frontend and slash-api to FastAPI, and it's exposed through an AWS Network Load Balancer. Kubernetes keeps it healthy: readiness checks the database before a pod gets traffic, liveness restarts a stuck pod, and disruption budgets keep at least one pod of each running during maintenance.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Next, autoscaling and monitoring. I ran an in-cluster load test against the backend. CPU went far above the sixty percent target, and the Horizontal Pod Autoscaler scaled the backend from two to six pods. Prometheus scrapes every backend pod's metrics endpoint through a ServiceMonitor, and this Grafana dashboard, which ships with the Helm chart, shows the load: about six hundred and sixty requests per second at the peak, with a p95 latency of around ninety-five milliseconds. It also shows business metrics, like inventory value and how many products need reordering, and there are alert rules for the backend going down, high error rate and slow requests.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Finally, troubleshooting. I built three deliberately broken manifests. First, a deployment with an image tag that doesn't exist. The pod goes to ImagePullBackOff; describe pod shows the registry said 'not found', and setting a real image fixes it. Second, a Service whose selector doesn't match any pod labels. It looks fine, but it has no endpoints, so it gets no traffic. Comparing the selector with the pod labels shows the mismatch, and patching the selector brings the endpoints back. Third, a backend with a wrong database password. The pod is Running but never Ready, because the readiness check fails, so Kubernetes never sends it traffic.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sum up: twenty-one automated tests, zero high or critical vulnerabilities, sixty-four AWS resources managed by Terraform, and autoscaling from two to six pods. All of it runs on a pipeline that goes from a Git push to a monitored Kubernetes cluster without manual steps. The code, Terraform, Helm chart, troubleshooting labs and screenshots are all in my GitHub repository. Thank you for watching.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_DARK">
    <p:bg>
      <p:bgPr>
        <a:solidFill>
          <a:schemeClr val="tx2"/>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02920" y="1143000"/>
            <a:ext cx="4114800" cy="822960"/>
          </a:xfrm>
          <a:prstGeom prst="rect">
            <a:avLst/>
          </a:prstGeom>
          <a:noFill/>
          <a:ln/>
        </p:spPr>
        <p:txBody>
          <a:bodyPr wrap="square" rtlCol="0"/>
          <a:lstStyle>
            <a:lvl1pPr algn="l" indent="0" marL="0">
              <a:buNone/>
              <a:defRPr lang="en-US" sz="4800" b="1" dirty="0">
                <a:solidFill>
                  <a:schemeClr val="bg1"/>
                </a:solidFill>
              </a:defRPr>
            </a:lvl1pPr>
          </a:lstStyle>
          <a:p>
            <a:pPr algn="l" indent="0" marL="0">
              <a:buNone/>
            </a:pPr>
            <a:endParaRPr lang="en-US" sz="4800" dirty="0"/>
          </a:p>
        </p:txBody>
      </p:sp>
      <p:sp>
        <p:nvSpPr>
          <p:cNvPr id="3" name="Text 0"/>
          <p:cNvSpPr/>
          <p:nvPr>
            <p:ph idx="101" type="body" hasCustomPrompt="1"/>
          </p:nvPr>
        </p:nvSpPr>
        <p:spPr>
          <a:xfrm>
            <a:off x="502920" y="2011680"/>
            <a:ext cx="3931920" cy="914400"/>
          </a:xfrm>
          <a:prstGeom prst="rect">
            <a:avLst/>
          </a:prstGeom>
          <a:noFill/>
          <a:ln/>
        </p:spPr>
        <p:txBody>
          <a:bodyPr wrap="square" rtlCol="0"/>
          <a:lstStyle>
            <a:lvl1pPr algn="l" indent="0" marL="0">
              <a:buNone/>
              <a:defRPr lang="en-US" sz="1800" dirty="0">
                <a:solidFill>
                  <a:schemeClr val="accent6"/>
                </a:solidFill>
              </a:defRPr>
            </a:lvl1pPr>
          </a:lstStyle>
          <a:p>
            <a:pPr algn="l" indent="0" marL="0">
              <a:buNone/>
            </a:pPr>
            <a:endParaRPr lang="en-US" sz="18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chemeClr val="bg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40080"/>
          </a:xfrm>
          <a:prstGeom prst="rect">
            <a:avLst/>
          </a:prstGeom>
          <a:noFill/>
          <a:ln/>
        </p:spPr>
        <p:txBody>
          <a:bodyPr wrap="square" rtlCol="0"/>
          <a:lstStyle>
            <a:lvl1pPr algn="l" indent="0" marL="0">
              <a:buNone/>
              <a:defRPr lang="en-US" sz="3200" b="1" dirty="0">
                <a:solidFill>
                  <a:schemeClr val="tx2"/>
                </a:solidFill>
              </a:defRPr>
            </a:lvl1pPr>
          </a:lstStyle>
          <a:p>
            <a:pPr algn="l" indent="0" marL="0">
              <a:buNone/>
            </a:pPr>
            <a:endParaRPr lang="en-US" sz="3200" dirty="0"/>
          </a:p>
        </p:txBody>
      </p:sp>
      <p:sp>
        <p:nvSpPr>
          <p:cNvPr id="3" name="Text 0"/>
          <p:cNvSpPr/>
          <p:nvPr/>
        </p:nvSpPr>
        <p:spPr>
          <a:xfrm>
            <a:off x="457200" y="4754880"/>
            <a:ext cx="3657600" cy="228600"/>
          </a:xfrm>
          <a:prstGeom prst="rect">
            <a:avLst/>
          </a:prstGeom>
          <a:noFill/>
          <a:ln/>
        </p:spPr>
        <p:txBody>
          <a:bodyPr wrap="square" lIns="0" tIns="0" rIns="0" bIns="0" rtlCol="0" anchor="ctr"/>
          <a:lstStyle/>
          <a:p>
            <a:pPr indent="0" marL="0">
              <a:buNone/>
            </a:pPr>
            <a:r>
              <a:rPr lang="en-US" sz="1000" dirty="0">
                <a:solidFill>
                  <a:schemeClr val="accent5"/>
                </a:solidFill>
              </a:rPr>
              <a:t>StockPilot  ·  Pragya Tripathi</a:t>
            </a:r>
            <a:endParaRPr lang="en-US" sz="1000" dirty="0"/>
          </a:p>
        </p:txBody>
      </p:sp>
      <p:sp>
        <p:nvSpPr>
          <p:cNvPr id="25" name="Slide Number Placeholder 0"/>
          <p:cNvSpPr>
            <a:spLocks noGrp="1"/>
          </p:cNvSpPr>
          <p:nvPr>
            <p:ph type="sldNum" sz="quarter" idx="4294967295"/>
          </p:nvPr>
        </p:nvSpPr>
        <p:spPr>
          <a:xfrm>
            <a:off x="8321040" y="4754880"/>
            <a:ext cx="36576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LOSING_DARK">
    <p:bg>
      <p:bgPr>
        <a:solidFill>
          <a:schemeClr val="tx2"/>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02920" y="822960"/>
            <a:ext cx="8138160" cy="822960"/>
          </a:xfrm>
          <a:prstGeom prst="rect">
            <a:avLst/>
          </a:prstGeom>
          <a:noFill/>
          <a:ln/>
        </p:spPr>
        <p:txBody>
          <a:bodyPr wrap="square" rtlCol="0"/>
          <a:lstStyle>
            <a:lvl1pPr algn="l" indent="0" marL="0">
              <a:buNone/>
              <a:defRPr lang="en-US" sz="3400" b="1" dirty="0">
                <a:solidFill>
                  <a:schemeClr val="bg1"/>
                </a:solidFill>
              </a:defRPr>
            </a:lvl1pPr>
          </a:lstStyle>
          <a:p>
            <a:pPr algn="l" indent="0" marL="0">
              <a:buNone/>
            </a:pPr>
            <a:endParaRPr lang="en-US" sz="34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8321040" y="4754880"/>
            <a:ext cx="36576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image" Target="../media/image-2-5.png"/><Relationship Id="rId6" Type="http://schemas.openxmlformats.org/officeDocument/2006/relationships/slideLayout" Target="../slideLayouts/slideLayout3.xml"/><Relationship Id="rId7"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slideLayout" Target="../slideLayouts/slideLayout3.xml"/><Relationship Id="rId5"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3.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image" Target="../media/image-5-5.png"/><Relationship Id="rId6" Type="http://schemas.openxmlformats.org/officeDocument/2006/relationships/slideLayout" Target="../slideLayouts/slideLayout3.xml"/><Relationship Id="rId7"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slideLayout" Target="../slideLayouts/slideLayout3.xml"/><Relationship Id="rId6"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3.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slideLayout" Target="../slideLayouts/slideLayout3.xml"/><Relationship Id="rId5"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9.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title" hasCustomPrompt="1"/>
          </p:nvPr>
        </p:nvSpPr>
        <p:spPr>
          <a:xfrm>
            <a:off x="502920" y="1143000"/>
            <a:ext cx="4114800" cy="822960"/>
          </a:xfrm>
          <a:prstGeom prst="rect">
            <a:avLst/>
          </a:prstGeom>
          <a:noFill/>
          <a:ln/>
        </p:spPr>
        <p:txBody>
          <a:bodyPr wrap="square" lIns="0" tIns="0" rIns="0" bIns="0" rtlCol="0" anchor="ctr"/>
          <a:lstStyle/>
          <a:p>
            <a:pPr algn="l" indent="0" marL="0">
              <a:buNone/>
            </a:pPr>
            <a:r>
              <a:rPr lang="en-US" sz="4800" b="1" dirty="0">
                <a:solidFill>
                  <a:schemeClr val="bg1"/>
                </a:solidFill>
              </a:rPr>
              <a:t>StockPilot</a:t>
            </a:r>
            <a:endParaRPr lang="en-US" sz="4800" dirty="0"/>
          </a:p>
        </p:txBody>
      </p:sp>
      <p:sp>
        <p:nvSpPr>
          <p:cNvPr id="3" name="Text 0"/>
          <p:cNvSpPr/>
          <p:nvPr>
            <p:ph idx="101" type="body" hasCustomPrompt="1"/>
          </p:nvPr>
        </p:nvSpPr>
        <p:spPr>
          <a:xfrm>
            <a:off x="502920" y="2011680"/>
            <a:ext cx="3931920" cy="914400"/>
          </a:xfrm>
          <a:prstGeom prst="rect">
            <a:avLst/>
          </a:prstGeom>
          <a:noFill/>
          <a:ln/>
        </p:spPr>
        <p:txBody>
          <a:bodyPr wrap="square" lIns="0" tIns="0" rIns="0" bIns="0" rtlCol="0" anchor="t"/>
          <a:lstStyle/>
          <a:p>
            <a:pPr algn="l" indent="0" marL="0">
              <a:buNone/>
            </a:pPr>
            <a:r>
              <a:rPr lang="en-US" sz="1800" dirty="0">
                <a:solidFill>
                  <a:schemeClr val="accent6"/>
                </a:solidFill>
              </a:rPr>
              <a:t>Inventory management, shipped from a Git push to a monitored Kubernetes cluster on AWS</a:t>
            </a:r>
            <a:endParaRPr lang="en-US" sz="1800" dirty="0"/>
          </a:p>
        </p:txBody>
      </p:sp>
      <p:sp>
        <p:nvSpPr>
          <p:cNvPr id="4" name="presenter"/>
          <p:cNvSpPr txBox="1"/>
          <p:nvPr/>
        </p:nvSpPr>
        <p:spPr>
          <a:xfrm>
            <a:off x="502920" y="3977640"/>
            <a:ext cx="4023360" cy="548640"/>
          </a:xfrm>
          <a:prstGeom prst="rect">
            <a:avLst/>
          </a:prstGeom>
          <a:noFill/>
          <a:ln/>
        </p:spPr>
        <p:txBody>
          <a:bodyPr wrap="square" lIns="0" tIns="0" rIns="0" bIns="0" rtlCol="0" anchor="ctr"/>
          <a:lstStyle/>
          <a:p>
            <a:pPr indent="0" marL="0">
              <a:buNone/>
            </a:pPr>
            <a:r>
              <a:rPr lang="en-US" sz="1400" b="1" dirty="0">
                <a:solidFill>
                  <a:schemeClr val="bg1"/>
                </a:solidFill>
              </a:rPr>
              <a:t>Pragya Tripathi  ·  Roll No 10032</a:t>
            </a:r>
            <a:endParaRPr lang="en-US" sz="1400" dirty="0"/>
          </a:p>
          <a:p>
            <a:pPr indent="0" marL="0">
              <a:buNone/>
            </a:pPr>
            <a:r>
              <a:rPr lang="en-US" sz="1200" dirty="0">
                <a:solidFill>
                  <a:schemeClr val="accent6"/>
                </a:solidFill>
              </a:rPr>
              <a:t>DevOps Final Capstone  ·  October 2026</a:t>
            </a:r>
            <a:endParaRPr lang="en-US" sz="1400" dirty="0"/>
          </a:p>
        </p:txBody>
      </p:sp>
      <p:sp>
        <p:nvSpPr>
          <p:cNvPr id="5" name="StockPilot dashboard frame"/>
          <p:cNvSpPr/>
          <p:nvPr/>
        </p:nvSpPr>
        <p:spPr>
          <a:xfrm>
            <a:off x="4791456" y="1271016"/>
            <a:ext cx="3950208" cy="2069897"/>
          </a:xfrm>
          <a:prstGeom prst="roundRect">
            <a:avLst>
              <a:gd name="adj" fmla="val 2651"/>
            </a:avLst>
          </a:prstGeom>
          <a:solidFill>
            <a:schemeClr val="bg1"/>
          </a:solidFill>
          <a:ln w="12700">
            <a:solidFill>
              <a:srgbClr val="EAF4F1"/>
            </a:solidFill>
            <a:prstDash val="solid"/>
          </a:ln>
          <a:effectLst>
            <a:outerShdw sx="100000" sy="100000" kx="0" ky="0" algn="bl" rotWithShape="0" blurRad="101600" dist="25400" dir="5400000">
              <a:srgbClr val="0C3437">
                <a:alpha val="18000"/>
              </a:srgbClr>
            </a:outerShdw>
          </a:effectLst>
        </p:spPr>
      </p:sp>
      <p:pic>
        <p:nvPicPr>
          <p:cNvPr id="6" name="StockPilot dashboard" descr="StockPilot dashboard">    </p:cNvPr>
          <p:cNvPicPr>
            <a:picLocks noChangeAspect="1"/>
          </p:cNvPicPr>
          <p:nvPr/>
        </p:nvPicPr>
        <p:blipFill>
          <a:blip r:embed="rId1"/>
          <a:stretch>
            <a:fillRect/>
          </a:stretch>
        </p:blipFill>
        <p:spPr>
          <a:xfrm>
            <a:off x="4846320" y="1325880"/>
            <a:ext cx="3840480" cy="1960169"/>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40080"/>
          </a:xfrm>
          <a:prstGeom prst="rect">
            <a:avLst/>
          </a:prstGeom>
          <a:noFill/>
          <a:ln/>
        </p:spPr>
        <p:txBody>
          <a:bodyPr wrap="square" lIns="0" tIns="0" rIns="0" bIns="0" rtlCol="0" anchor="ctr"/>
          <a:lstStyle/>
          <a:p>
            <a:pPr algn="l" indent="0" marL="0">
              <a:buNone/>
            </a:pPr>
            <a:r>
              <a:rPr lang="en-US" sz="3200" b="1" dirty="0">
                <a:solidFill>
                  <a:schemeClr val="tx2"/>
                </a:solidFill>
              </a:rPr>
              <a:t>The application</a:t>
            </a:r>
            <a:endParaRPr lang="en-US" sz="3200" dirty="0"/>
          </a:p>
        </p:txBody>
      </p:sp>
      <p:sp>
        <p:nvSpPr>
          <p:cNvPr id="3" name="StockPilot dashboard on EKS frame"/>
          <p:cNvSpPr/>
          <p:nvPr/>
        </p:nvSpPr>
        <p:spPr>
          <a:xfrm>
            <a:off x="448056" y="1179576"/>
            <a:ext cx="4681728" cy="2443263"/>
          </a:xfrm>
          <a:prstGeom prst="roundRect">
            <a:avLst>
              <a:gd name="adj" fmla="val 2246"/>
            </a:avLst>
          </a:prstGeom>
          <a:solidFill>
            <a:schemeClr val="bg1"/>
          </a:solidFill>
          <a:ln w="12700">
            <a:solidFill>
              <a:srgbClr val="EAF4F1"/>
            </a:solidFill>
            <a:prstDash val="solid"/>
          </a:ln>
          <a:effectLst>
            <a:outerShdw sx="100000" sy="100000" kx="0" ky="0" algn="bl" rotWithShape="0" blurRad="101600" dist="25400" dir="5400000">
              <a:srgbClr val="0C3437">
                <a:alpha val="18000"/>
              </a:srgbClr>
            </a:outerShdw>
          </a:effectLst>
        </p:spPr>
      </p:sp>
      <p:pic>
        <p:nvPicPr>
          <p:cNvPr id="4" name="StockPilot dashboard on EKS" descr="StockPilot dashboard on EKS">    </p:cNvPr>
          <p:cNvPicPr>
            <a:picLocks noChangeAspect="1"/>
          </p:cNvPicPr>
          <p:nvPr/>
        </p:nvPicPr>
        <p:blipFill>
          <a:blip r:embed="rId1"/>
          <a:stretch>
            <a:fillRect/>
          </a:stretch>
        </p:blipFill>
        <p:spPr>
          <a:xfrm>
            <a:off x="502920" y="1234440"/>
            <a:ext cx="4572000" cy="2333535"/>
          </a:xfrm>
          <a:prstGeom prst="rect">
            <a:avLst/>
          </a:prstGeom>
        </p:spPr>
      </p:pic>
      <p:sp>
        <p:nvSpPr>
          <p:cNvPr id="5" name="caption"/>
          <p:cNvSpPr txBox="1"/>
          <p:nvPr/>
        </p:nvSpPr>
        <p:spPr>
          <a:xfrm>
            <a:off x="457200" y="3730752"/>
            <a:ext cx="4663440" cy="274320"/>
          </a:xfrm>
          <a:prstGeom prst="rect">
            <a:avLst/>
          </a:prstGeom>
          <a:noFill/>
          <a:ln/>
        </p:spPr>
        <p:txBody>
          <a:bodyPr wrap="square" lIns="0" tIns="0" rIns="0" bIns="0" rtlCol="0" anchor="ctr"/>
          <a:lstStyle/>
          <a:p>
            <a:pPr indent="0" marL="0">
              <a:buNone/>
            </a:pPr>
            <a:r>
              <a:rPr lang="en-US" sz="1100" i="1" dirty="0">
                <a:solidFill>
                  <a:schemeClr val="accent5"/>
                </a:solidFill>
              </a:rPr>
              <a:t>Live on AWS EKS, reached through the Ingress load balancer</a:t>
            </a:r>
            <a:endParaRPr lang="en-US" sz="1100" dirty="0"/>
          </a:p>
        </p:txBody>
      </p:sp>
      <p:sp>
        <p:nvSpPr>
          <p:cNvPr id="6" name="React + Vite frontend circle"/>
          <p:cNvSpPr/>
          <p:nvPr/>
        </p:nvSpPr>
        <p:spPr>
          <a:xfrm>
            <a:off x="5440680" y="1188720"/>
            <a:ext cx="420624" cy="420624"/>
          </a:xfrm>
          <a:prstGeom prst="ellipse">
            <a:avLst/>
          </a:prstGeom>
          <a:solidFill>
            <a:schemeClr val="bg2"/>
          </a:solidFill>
          <a:ln/>
        </p:spPr>
      </p:sp>
      <p:pic>
        <p:nvPicPr>
          <p:cNvPr id="7" name="React + Vite frontend icon" descr="React + Vite frontend">    </p:cNvPr>
          <p:cNvPicPr>
            <a:picLocks noChangeAspect="1"/>
          </p:cNvPicPr>
          <p:nvPr/>
        </p:nvPicPr>
        <p:blipFill>
          <a:blip r:embed="rId2"/>
          <a:stretch>
            <a:fillRect/>
          </a:stretch>
        </p:blipFill>
        <p:spPr>
          <a:xfrm>
            <a:off x="5545836" y="1293876"/>
            <a:ext cx="210312" cy="210312"/>
          </a:xfrm>
          <a:prstGeom prst="rect">
            <a:avLst/>
          </a:prstGeom>
        </p:spPr>
      </p:pic>
      <p:sp>
        <p:nvSpPr>
          <p:cNvPr id="8" name="React + Vite frontend"/>
          <p:cNvSpPr txBox="1"/>
          <p:nvPr/>
        </p:nvSpPr>
        <p:spPr>
          <a:xfrm>
            <a:off x="6007608" y="1152144"/>
            <a:ext cx="2679192" cy="795528"/>
          </a:xfrm>
          <a:prstGeom prst="rect">
            <a:avLst/>
          </a:prstGeom>
          <a:noFill/>
          <a:ln/>
        </p:spPr>
        <p:txBody>
          <a:bodyPr wrap="square" lIns="0" tIns="0" rIns="0" bIns="0" rtlCol="0" anchor="t"/>
          <a:lstStyle/>
          <a:p>
            <a:pPr indent="0" marL="0">
              <a:buNone/>
            </a:pPr>
            <a:r>
              <a:rPr lang="en-US" sz="1500" b="1" dirty="0">
                <a:solidFill>
                  <a:schemeClr val="tx2"/>
                </a:solidFill>
              </a:rPr>
              <a:t>React + Vite frontend</a:t>
            </a:r>
            <a:endParaRPr lang="en-US" sz="1500" dirty="0"/>
          </a:p>
          <a:p>
            <a:pPr indent="0" marL="0">
              <a:buNone/>
            </a:pPr>
            <a:r>
              <a:rPr lang="en-US" sz="1200" dirty="0">
                <a:solidFill>
                  <a:schemeClr val="accent5"/>
                </a:solidFill>
              </a:rPr>
              <a:t>Dashboard, products, stock movements, categories; works on phones</a:t>
            </a:r>
            <a:endParaRPr lang="en-US" sz="1500" dirty="0"/>
          </a:p>
        </p:txBody>
      </p:sp>
      <p:sp>
        <p:nvSpPr>
          <p:cNvPr id="9" name="FastAPI backend circle"/>
          <p:cNvSpPr/>
          <p:nvPr/>
        </p:nvSpPr>
        <p:spPr>
          <a:xfrm>
            <a:off x="5440680" y="2057400"/>
            <a:ext cx="420624" cy="420624"/>
          </a:xfrm>
          <a:prstGeom prst="ellipse">
            <a:avLst/>
          </a:prstGeom>
          <a:solidFill>
            <a:schemeClr val="bg2"/>
          </a:solidFill>
          <a:ln/>
        </p:spPr>
      </p:sp>
      <p:pic>
        <p:nvPicPr>
          <p:cNvPr id="10" name="FastAPI backend icon" descr="FastAPI backend">    </p:cNvPr>
          <p:cNvPicPr>
            <a:picLocks noChangeAspect="1"/>
          </p:cNvPicPr>
          <p:nvPr/>
        </p:nvPicPr>
        <p:blipFill>
          <a:blip r:embed="rId3"/>
          <a:stretch>
            <a:fillRect/>
          </a:stretch>
        </p:blipFill>
        <p:spPr>
          <a:xfrm>
            <a:off x="5545836" y="2162556"/>
            <a:ext cx="210312" cy="210312"/>
          </a:xfrm>
          <a:prstGeom prst="rect">
            <a:avLst/>
          </a:prstGeom>
        </p:spPr>
      </p:pic>
      <p:sp>
        <p:nvSpPr>
          <p:cNvPr id="11" name="FastAPI backend"/>
          <p:cNvSpPr txBox="1"/>
          <p:nvPr/>
        </p:nvSpPr>
        <p:spPr>
          <a:xfrm>
            <a:off x="6007608" y="2020824"/>
            <a:ext cx="2679192" cy="795528"/>
          </a:xfrm>
          <a:prstGeom prst="rect">
            <a:avLst/>
          </a:prstGeom>
          <a:noFill/>
          <a:ln/>
        </p:spPr>
        <p:txBody>
          <a:bodyPr wrap="square" lIns="0" tIns="0" rIns="0" bIns="0" rtlCol="0" anchor="t"/>
          <a:lstStyle/>
          <a:p>
            <a:pPr indent="0" marL="0">
              <a:buNone/>
            </a:pPr>
            <a:r>
              <a:rPr lang="en-US" sz="1500" b="1" dirty="0">
                <a:solidFill>
                  <a:schemeClr val="tx2"/>
                </a:solidFill>
              </a:rPr>
              <a:t>FastAPI backend</a:t>
            </a:r>
            <a:endParaRPr lang="en-US" sz="1500" dirty="0"/>
          </a:p>
          <a:p>
            <a:pPr indent="0" marL="0">
              <a:buNone/>
            </a:pPr>
            <a:r>
              <a:rPr lang="en-US" sz="1200" dirty="0">
                <a:solidFill>
                  <a:schemeClr val="accent5"/>
                </a:solidFill>
              </a:rPr>
              <a:t>14 REST endpoints plus /health, /ready and /metrics</a:t>
            </a:r>
            <a:endParaRPr lang="en-US" sz="1500" dirty="0"/>
          </a:p>
        </p:txBody>
      </p:sp>
      <p:sp>
        <p:nvSpPr>
          <p:cNvPr id="12" name="PostgreSQL + Alembic circle"/>
          <p:cNvSpPr/>
          <p:nvPr/>
        </p:nvSpPr>
        <p:spPr>
          <a:xfrm>
            <a:off x="5440680" y="2926080"/>
            <a:ext cx="420624" cy="420624"/>
          </a:xfrm>
          <a:prstGeom prst="ellipse">
            <a:avLst/>
          </a:prstGeom>
          <a:solidFill>
            <a:schemeClr val="bg2"/>
          </a:solidFill>
          <a:ln/>
        </p:spPr>
      </p:sp>
      <p:pic>
        <p:nvPicPr>
          <p:cNvPr id="13" name="PostgreSQL + Alembic icon" descr="PostgreSQL + Alembic">    </p:cNvPr>
          <p:cNvPicPr>
            <a:picLocks noChangeAspect="1"/>
          </p:cNvPicPr>
          <p:nvPr/>
        </p:nvPicPr>
        <p:blipFill>
          <a:blip r:embed="rId4"/>
          <a:stretch>
            <a:fillRect/>
          </a:stretch>
        </p:blipFill>
        <p:spPr>
          <a:xfrm>
            <a:off x="5545836" y="3031236"/>
            <a:ext cx="210312" cy="210312"/>
          </a:xfrm>
          <a:prstGeom prst="rect">
            <a:avLst/>
          </a:prstGeom>
        </p:spPr>
      </p:pic>
      <p:sp>
        <p:nvSpPr>
          <p:cNvPr id="14" name="PostgreSQL + Alembic"/>
          <p:cNvSpPr txBox="1"/>
          <p:nvPr/>
        </p:nvSpPr>
        <p:spPr>
          <a:xfrm>
            <a:off x="6007608" y="2889504"/>
            <a:ext cx="2679192" cy="795528"/>
          </a:xfrm>
          <a:prstGeom prst="rect">
            <a:avLst/>
          </a:prstGeom>
          <a:noFill/>
          <a:ln/>
        </p:spPr>
        <p:txBody>
          <a:bodyPr wrap="square" lIns="0" tIns="0" rIns="0" bIns="0" rtlCol="0" anchor="t"/>
          <a:lstStyle/>
          <a:p>
            <a:pPr indent="0" marL="0">
              <a:buNone/>
            </a:pPr>
            <a:r>
              <a:rPr lang="en-US" sz="1500" b="1" dirty="0">
                <a:solidFill>
                  <a:schemeClr val="tx2"/>
                </a:solidFill>
              </a:rPr>
              <a:t>PostgreSQL + Alembic</a:t>
            </a:r>
            <a:endParaRPr lang="en-US" sz="1500" dirty="0"/>
          </a:p>
          <a:p>
            <a:pPr indent="0" marL="0">
              <a:buNone/>
            </a:pPr>
            <a:r>
              <a:rPr lang="en-US" sz="1200" dirty="0">
                <a:solidFill>
                  <a:schemeClr val="accent5"/>
                </a:solidFill>
              </a:rPr>
              <a:t>3 tables, versioned migrations, demo seed data</a:t>
            </a:r>
            <a:endParaRPr lang="en-US" sz="1500" dirty="0"/>
          </a:p>
        </p:txBody>
      </p:sp>
      <p:sp>
        <p:nvSpPr>
          <p:cNvPr id="15" name="21 automated tests circle"/>
          <p:cNvSpPr/>
          <p:nvPr/>
        </p:nvSpPr>
        <p:spPr>
          <a:xfrm>
            <a:off x="5440680" y="3794760"/>
            <a:ext cx="420624" cy="420624"/>
          </a:xfrm>
          <a:prstGeom prst="ellipse">
            <a:avLst/>
          </a:prstGeom>
          <a:solidFill>
            <a:schemeClr val="bg2"/>
          </a:solidFill>
          <a:ln/>
        </p:spPr>
      </p:sp>
      <p:pic>
        <p:nvPicPr>
          <p:cNvPr id="16" name="21 automated tests icon" descr="21 automated tests">    </p:cNvPr>
          <p:cNvPicPr>
            <a:picLocks noChangeAspect="1"/>
          </p:cNvPicPr>
          <p:nvPr/>
        </p:nvPicPr>
        <p:blipFill>
          <a:blip r:embed="rId5"/>
          <a:stretch>
            <a:fillRect/>
          </a:stretch>
        </p:blipFill>
        <p:spPr>
          <a:xfrm>
            <a:off x="5545836" y="3899916"/>
            <a:ext cx="210312" cy="210312"/>
          </a:xfrm>
          <a:prstGeom prst="rect">
            <a:avLst/>
          </a:prstGeom>
        </p:spPr>
      </p:pic>
      <p:sp>
        <p:nvSpPr>
          <p:cNvPr id="17" name="21 automated tests"/>
          <p:cNvSpPr txBox="1"/>
          <p:nvPr/>
        </p:nvSpPr>
        <p:spPr>
          <a:xfrm>
            <a:off x="6007608" y="3758184"/>
            <a:ext cx="2679192" cy="795528"/>
          </a:xfrm>
          <a:prstGeom prst="rect">
            <a:avLst/>
          </a:prstGeom>
          <a:noFill/>
          <a:ln/>
        </p:spPr>
        <p:txBody>
          <a:bodyPr wrap="square" lIns="0" tIns="0" rIns="0" bIns="0" rtlCol="0" anchor="t"/>
          <a:lstStyle/>
          <a:p>
            <a:pPr indent="0" marL="0">
              <a:buNone/>
            </a:pPr>
            <a:r>
              <a:rPr lang="en-US" sz="1500" b="1" dirty="0">
                <a:solidFill>
                  <a:schemeClr val="tx2"/>
                </a:solidFill>
              </a:rPr>
              <a:t>21 automated tests</a:t>
            </a:r>
            <a:endParaRPr lang="en-US" sz="1500" dirty="0"/>
          </a:p>
          <a:p>
            <a:pPr indent="0" marL="0">
              <a:buNone/>
            </a:pPr>
            <a:r>
              <a:rPr lang="en-US" sz="1200" dirty="0">
                <a:solidFill>
                  <a:schemeClr val="accent5"/>
                </a:solidFill>
              </a:rPr>
              <a:t>pytest on in-memory SQLite, plus ruff lint, on every push</a:t>
            </a:r>
            <a:endParaRPr lang="en-US" sz="1500" dirty="0"/>
          </a:p>
        </p:txBody>
      </p:sp>
      <p:sp>
        <p:nvSpPr>
          <p:cNvPr id="25" name="Slide Number Placeholder 0"/>
          <p:cNvSpPr>
            <a:spLocks noGrp="1"/>
          </p:cNvSpPr>
          <p:nvPr>
            <p:ph type="sldNum" sz="quarter" idx="4294967295"/>
          </p:nvPr>
        </p:nvSpPr>
        <p:spPr>
          <a:xfrm>
            <a:off x="8321040" y="4754880"/>
            <a:ext cx="36576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40080"/>
          </a:xfrm>
          <a:prstGeom prst="rect">
            <a:avLst/>
          </a:prstGeom>
          <a:noFill/>
          <a:ln/>
        </p:spPr>
        <p:txBody>
          <a:bodyPr wrap="square" lIns="0" tIns="0" rIns="0" bIns="0" rtlCol="0" anchor="ctr"/>
          <a:lstStyle/>
          <a:p>
            <a:pPr algn="l" indent="0" marL="0">
              <a:buNone/>
            </a:pPr>
            <a:r>
              <a:rPr lang="en-US" sz="3200" b="1" dirty="0">
                <a:solidFill>
                  <a:schemeClr val="tx2"/>
                </a:solidFill>
              </a:rPr>
              <a:t>From commit to cluster</a:t>
            </a:r>
            <a:endParaRPr lang="en-US" sz="3200" dirty="0"/>
          </a:p>
        </p:txBody>
      </p:sp>
      <p:sp>
        <p:nvSpPr>
          <p:cNvPr id="3" name="Git push step"/>
          <p:cNvSpPr/>
          <p:nvPr/>
        </p:nvSpPr>
        <p:spPr>
          <a:xfrm>
            <a:off x="502920" y="1325880"/>
            <a:ext cx="896112" cy="566928"/>
          </a:xfrm>
          <a:prstGeom prst="roundRect">
            <a:avLst>
              <a:gd name="adj" fmla="val 12903"/>
            </a:avLst>
          </a:prstGeom>
          <a:solidFill>
            <a:schemeClr val="accent1"/>
          </a:solidFill>
          <a:ln/>
        </p:spPr>
      </p:sp>
      <p:sp>
        <p:nvSpPr>
          <p:cNvPr id="4" name="Git push"/>
          <p:cNvSpPr txBox="1"/>
          <p:nvPr/>
        </p:nvSpPr>
        <p:spPr>
          <a:xfrm>
            <a:off x="502920" y="1325880"/>
            <a:ext cx="896112" cy="566928"/>
          </a:xfrm>
          <a:prstGeom prst="rect">
            <a:avLst/>
          </a:prstGeom>
          <a:noFill/>
          <a:ln/>
        </p:spPr>
        <p:txBody>
          <a:bodyPr wrap="square" lIns="0" tIns="0" rIns="0" bIns="0" rtlCol="0" anchor="ctr"/>
          <a:lstStyle/>
          <a:p>
            <a:pPr algn="ctr" indent="0" marL="0">
              <a:buNone/>
            </a:pPr>
            <a:r>
              <a:rPr lang="en-US" sz="1200" b="1" dirty="0">
                <a:solidFill>
                  <a:schemeClr val="bg1"/>
                </a:solidFill>
              </a:rPr>
              <a:t>Git push</a:t>
            </a:r>
            <a:endParaRPr lang="en-US" sz="1200" dirty="0"/>
          </a:p>
        </p:txBody>
      </p:sp>
      <p:sp>
        <p:nvSpPr>
          <p:cNvPr id="5" name="arrow 0"/>
          <p:cNvSpPr txBox="1"/>
          <p:nvPr/>
        </p:nvSpPr>
        <p:spPr>
          <a:xfrm>
            <a:off x="1399032" y="1325880"/>
            <a:ext cx="155448" cy="566928"/>
          </a:xfrm>
          <a:prstGeom prst="rect">
            <a:avLst/>
          </a:prstGeom>
          <a:noFill/>
          <a:ln/>
        </p:spPr>
        <p:txBody>
          <a:bodyPr wrap="square" lIns="0" tIns="0" rIns="0" bIns="0" rtlCol="0" anchor="ctr"/>
          <a:lstStyle/>
          <a:p>
            <a:pPr algn="ctr" indent="0" marL="0">
              <a:buNone/>
            </a:pPr>
            <a:r>
              <a:rPr lang="en-US" sz="1600" dirty="0">
                <a:solidFill>
                  <a:schemeClr val="accent5"/>
                </a:solidFill>
              </a:rPr>
              <a:t>›</a:t>
            </a:r>
            <a:endParaRPr lang="en-US" sz="1600" dirty="0"/>
          </a:p>
        </p:txBody>
      </p:sp>
      <p:sp>
        <p:nvSpPr>
          <p:cNvPr id="6" name="Lint + tests step"/>
          <p:cNvSpPr/>
          <p:nvPr/>
        </p:nvSpPr>
        <p:spPr>
          <a:xfrm>
            <a:off x="1554480" y="1325880"/>
            <a:ext cx="896112" cy="566928"/>
          </a:xfrm>
          <a:prstGeom prst="roundRect">
            <a:avLst>
              <a:gd name="adj" fmla="val 12903"/>
            </a:avLst>
          </a:prstGeom>
          <a:solidFill>
            <a:schemeClr val="accent1"/>
          </a:solidFill>
          <a:ln/>
        </p:spPr>
      </p:sp>
      <p:sp>
        <p:nvSpPr>
          <p:cNvPr id="7" name="Lint + tests"/>
          <p:cNvSpPr txBox="1"/>
          <p:nvPr/>
        </p:nvSpPr>
        <p:spPr>
          <a:xfrm>
            <a:off x="1554480" y="1325880"/>
            <a:ext cx="896112" cy="566928"/>
          </a:xfrm>
          <a:prstGeom prst="rect">
            <a:avLst/>
          </a:prstGeom>
          <a:noFill/>
          <a:ln/>
        </p:spPr>
        <p:txBody>
          <a:bodyPr wrap="square" lIns="0" tIns="0" rIns="0" bIns="0" rtlCol="0" anchor="ctr"/>
          <a:lstStyle/>
          <a:p>
            <a:pPr algn="ctr" indent="0" marL="0">
              <a:buNone/>
            </a:pPr>
            <a:r>
              <a:rPr lang="en-US" sz="1200" b="1" dirty="0">
                <a:solidFill>
                  <a:schemeClr val="bg1"/>
                </a:solidFill>
              </a:rPr>
              <a:t>Lint + tests</a:t>
            </a:r>
            <a:endParaRPr lang="en-US" sz="1200" dirty="0"/>
          </a:p>
        </p:txBody>
      </p:sp>
      <p:sp>
        <p:nvSpPr>
          <p:cNvPr id="8" name="arrow 1"/>
          <p:cNvSpPr txBox="1"/>
          <p:nvPr/>
        </p:nvSpPr>
        <p:spPr>
          <a:xfrm>
            <a:off x="2450592" y="1325880"/>
            <a:ext cx="155448" cy="566928"/>
          </a:xfrm>
          <a:prstGeom prst="rect">
            <a:avLst/>
          </a:prstGeom>
          <a:noFill/>
          <a:ln/>
        </p:spPr>
        <p:txBody>
          <a:bodyPr wrap="square" lIns="0" tIns="0" rIns="0" bIns="0" rtlCol="0" anchor="ctr"/>
          <a:lstStyle/>
          <a:p>
            <a:pPr algn="ctr" indent="0" marL="0">
              <a:buNone/>
            </a:pPr>
            <a:r>
              <a:rPr lang="en-US" sz="1600" dirty="0">
                <a:solidFill>
                  <a:schemeClr val="accent5"/>
                </a:solidFill>
              </a:rPr>
              <a:t>›</a:t>
            </a:r>
            <a:endParaRPr lang="en-US" sz="1600" dirty="0"/>
          </a:p>
        </p:txBody>
      </p:sp>
      <p:sp>
        <p:nvSpPr>
          <p:cNvPr id="9" name="Frontend build step"/>
          <p:cNvSpPr/>
          <p:nvPr/>
        </p:nvSpPr>
        <p:spPr>
          <a:xfrm>
            <a:off x="2606040" y="1325880"/>
            <a:ext cx="896112" cy="566928"/>
          </a:xfrm>
          <a:prstGeom prst="roundRect">
            <a:avLst>
              <a:gd name="adj" fmla="val 12903"/>
            </a:avLst>
          </a:prstGeom>
          <a:solidFill>
            <a:schemeClr val="accent1"/>
          </a:solidFill>
          <a:ln/>
        </p:spPr>
      </p:sp>
      <p:sp>
        <p:nvSpPr>
          <p:cNvPr id="10" name="Frontend build"/>
          <p:cNvSpPr txBox="1"/>
          <p:nvPr/>
        </p:nvSpPr>
        <p:spPr>
          <a:xfrm>
            <a:off x="2606040" y="1325880"/>
            <a:ext cx="896112" cy="566928"/>
          </a:xfrm>
          <a:prstGeom prst="rect">
            <a:avLst/>
          </a:prstGeom>
          <a:noFill/>
          <a:ln/>
        </p:spPr>
        <p:txBody>
          <a:bodyPr wrap="square" lIns="0" tIns="0" rIns="0" bIns="0" rtlCol="0" anchor="ctr"/>
          <a:lstStyle/>
          <a:p>
            <a:pPr algn="ctr" indent="0" marL="0">
              <a:buNone/>
            </a:pPr>
            <a:r>
              <a:rPr lang="en-US" sz="1200" b="1" dirty="0">
                <a:solidFill>
                  <a:schemeClr val="bg1"/>
                </a:solidFill>
              </a:rPr>
              <a:t>Frontend build</a:t>
            </a:r>
            <a:endParaRPr lang="en-US" sz="1200" dirty="0"/>
          </a:p>
        </p:txBody>
      </p:sp>
      <p:sp>
        <p:nvSpPr>
          <p:cNvPr id="11" name="arrow 2"/>
          <p:cNvSpPr txBox="1"/>
          <p:nvPr/>
        </p:nvSpPr>
        <p:spPr>
          <a:xfrm>
            <a:off x="3502152" y="1325880"/>
            <a:ext cx="155448" cy="566928"/>
          </a:xfrm>
          <a:prstGeom prst="rect">
            <a:avLst/>
          </a:prstGeom>
          <a:noFill/>
          <a:ln/>
        </p:spPr>
        <p:txBody>
          <a:bodyPr wrap="square" lIns="0" tIns="0" rIns="0" bIns="0" rtlCol="0" anchor="ctr"/>
          <a:lstStyle/>
          <a:p>
            <a:pPr algn="ctr" indent="0" marL="0">
              <a:buNone/>
            </a:pPr>
            <a:r>
              <a:rPr lang="en-US" sz="1600" dirty="0">
                <a:solidFill>
                  <a:schemeClr val="accent5"/>
                </a:solidFill>
              </a:rPr>
              <a:t>›</a:t>
            </a:r>
            <a:endParaRPr lang="en-US" sz="1600" dirty="0"/>
          </a:p>
        </p:txBody>
      </p:sp>
      <p:sp>
        <p:nvSpPr>
          <p:cNvPr id="12" name="Docker build step"/>
          <p:cNvSpPr/>
          <p:nvPr/>
        </p:nvSpPr>
        <p:spPr>
          <a:xfrm>
            <a:off x="3657600" y="1325880"/>
            <a:ext cx="896112" cy="566928"/>
          </a:xfrm>
          <a:prstGeom prst="roundRect">
            <a:avLst>
              <a:gd name="adj" fmla="val 12903"/>
            </a:avLst>
          </a:prstGeom>
          <a:solidFill>
            <a:schemeClr val="accent1"/>
          </a:solidFill>
          <a:ln/>
        </p:spPr>
      </p:sp>
      <p:sp>
        <p:nvSpPr>
          <p:cNvPr id="13" name="Docker build"/>
          <p:cNvSpPr txBox="1"/>
          <p:nvPr/>
        </p:nvSpPr>
        <p:spPr>
          <a:xfrm>
            <a:off x="3657600" y="1325880"/>
            <a:ext cx="896112" cy="566928"/>
          </a:xfrm>
          <a:prstGeom prst="rect">
            <a:avLst/>
          </a:prstGeom>
          <a:noFill/>
          <a:ln/>
        </p:spPr>
        <p:txBody>
          <a:bodyPr wrap="square" lIns="0" tIns="0" rIns="0" bIns="0" rtlCol="0" anchor="ctr"/>
          <a:lstStyle/>
          <a:p>
            <a:pPr algn="ctr" indent="0" marL="0">
              <a:buNone/>
            </a:pPr>
            <a:r>
              <a:rPr lang="en-US" sz="1200" b="1" dirty="0">
                <a:solidFill>
                  <a:schemeClr val="bg1"/>
                </a:solidFill>
              </a:rPr>
              <a:t>Docker build</a:t>
            </a:r>
            <a:endParaRPr lang="en-US" sz="1200" dirty="0"/>
          </a:p>
        </p:txBody>
      </p:sp>
      <p:sp>
        <p:nvSpPr>
          <p:cNvPr id="14" name="arrow 3"/>
          <p:cNvSpPr txBox="1"/>
          <p:nvPr/>
        </p:nvSpPr>
        <p:spPr>
          <a:xfrm>
            <a:off x="4553712" y="1325880"/>
            <a:ext cx="155448" cy="566928"/>
          </a:xfrm>
          <a:prstGeom prst="rect">
            <a:avLst/>
          </a:prstGeom>
          <a:noFill/>
          <a:ln/>
        </p:spPr>
        <p:txBody>
          <a:bodyPr wrap="square" lIns="0" tIns="0" rIns="0" bIns="0" rtlCol="0" anchor="ctr"/>
          <a:lstStyle/>
          <a:p>
            <a:pPr algn="ctr" indent="0" marL="0">
              <a:buNone/>
            </a:pPr>
            <a:r>
              <a:rPr lang="en-US" sz="1600" dirty="0">
                <a:solidFill>
                  <a:schemeClr val="accent5"/>
                </a:solidFill>
              </a:rPr>
              <a:t>›</a:t>
            </a:r>
            <a:endParaRPr lang="en-US" sz="1600" dirty="0"/>
          </a:p>
        </p:txBody>
      </p:sp>
      <p:sp>
        <p:nvSpPr>
          <p:cNvPr id="15" name="Trivy scan step"/>
          <p:cNvSpPr/>
          <p:nvPr/>
        </p:nvSpPr>
        <p:spPr>
          <a:xfrm>
            <a:off x="4709160" y="1325880"/>
            <a:ext cx="896112" cy="566928"/>
          </a:xfrm>
          <a:prstGeom prst="roundRect">
            <a:avLst>
              <a:gd name="adj" fmla="val 12903"/>
            </a:avLst>
          </a:prstGeom>
          <a:solidFill>
            <a:schemeClr val="accent2"/>
          </a:solidFill>
          <a:ln/>
        </p:spPr>
      </p:sp>
      <p:sp>
        <p:nvSpPr>
          <p:cNvPr id="16" name="Trivy scan"/>
          <p:cNvSpPr txBox="1"/>
          <p:nvPr/>
        </p:nvSpPr>
        <p:spPr>
          <a:xfrm>
            <a:off x="4709160" y="1325880"/>
            <a:ext cx="896112" cy="566928"/>
          </a:xfrm>
          <a:prstGeom prst="rect">
            <a:avLst/>
          </a:prstGeom>
          <a:noFill/>
          <a:ln/>
        </p:spPr>
        <p:txBody>
          <a:bodyPr wrap="square" lIns="0" tIns="0" rIns="0" bIns="0" rtlCol="0" anchor="ctr"/>
          <a:lstStyle/>
          <a:p>
            <a:pPr algn="ctr" indent="0" marL="0">
              <a:buNone/>
            </a:pPr>
            <a:r>
              <a:rPr lang="en-US" sz="1200" b="1" dirty="0">
                <a:solidFill>
                  <a:schemeClr val="tx1"/>
                </a:solidFill>
              </a:rPr>
              <a:t>Trivy scan</a:t>
            </a:r>
            <a:endParaRPr lang="en-US" sz="1200" dirty="0"/>
          </a:p>
        </p:txBody>
      </p:sp>
      <p:sp>
        <p:nvSpPr>
          <p:cNvPr id="17" name="arrow 4"/>
          <p:cNvSpPr txBox="1"/>
          <p:nvPr/>
        </p:nvSpPr>
        <p:spPr>
          <a:xfrm>
            <a:off x="5605272" y="1325880"/>
            <a:ext cx="155448" cy="566928"/>
          </a:xfrm>
          <a:prstGeom prst="rect">
            <a:avLst/>
          </a:prstGeom>
          <a:noFill/>
          <a:ln/>
        </p:spPr>
        <p:txBody>
          <a:bodyPr wrap="square" lIns="0" tIns="0" rIns="0" bIns="0" rtlCol="0" anchor="ctr"/>
          <a:lstStyle/>
          <a:p>
            <a:pPr algn="ctr" indent="0" marL="0">
              <a:buNone/>
            </a:pPr>
            <a:r>
              <a:rPr lang="en-US" sz="1600" dirty="0">
                <a:solidFill>
                  <a:schemeClr val="accent5"/>
                </a:solidFill>
              </a:rPr>
              <a:t>›</a:t>
            </a:r>
            <a:endParaRPr lang="en-US" sz="1600" dirty="0"/>
          </a:p>
        </p:txBody>
      </p:sp>
      <p:sp>
        <p:nvSpPr>
          <p:cNvPr id="18" name="GHCR step"/>
          <p:cNvSpPr/>
          <p:nvPr/>
        </p:nvSpPr>
        <p:spPr>
          <a:xfrm>
            <a:off x="5760720" y="1325880"/>
            <a:ext cx="896112" cy="566928"/>
          </a:xfrm>
          <a:prstGeom prst="roundRect">
            <a:avLst>
              <a:gd name="adj" fmla="val 12903"/>
            </a:avLst>
          </a:prstGeom>
          <a:solidFill>
            <a:schemeClr val="accent1"/>
          </a:solidFill>
          <a:ln/>
        </p:spPr>
      </p:sp>
      <p:sp>
        <p:nvSpPr>
          <p:cNvPr id="19" name="GHCR"/>
          <p:cNvSpPr txBox="1"/>
          <p:nvPr/>
        </p:nvSpPr>
        <p:spPr>
          <a:xfrm>
            <a:off x="5760720" y="1325880"/>
            <a:ext cx="896112" cy="566928"/>
          </a:xfrm>
          <a:prstGeom prst="rect">
            <a:avLst/>
          </a:prstGeom>
          <a:noFill/>
          <a:ln/>
        </p:spPr>
        <p:txBody>
          <a:bodyPr wrap="square" lIns="0" tIns="0" rIns="0" bIns="0" rtlCol="0" anchor="ctr"/>
          <a:lstStyle/>
          <a:p>
            <a:pPr algn="ctr" indent="0" marL="0">
              <a:buNone/>
            </a:pPr>
            <a:r>
              <a:rPr lang="en-US" sz="1200" b="1" dirty="0">
                <a:solidFill>
                  <a:schemeClr val="bg1"/>
                </a:solidFill>
              </a:rPr>
              <a:t>GHCR</a:t>
            </a:r>
            <a:endParaRPr lang="en-US" sz="1200" dirty="0"/>
          </a:p>
        </p:txBody>
      </p:sp>
      <p:sp>
        <p:nvSpPr>
          <p:cNvPr id="20" name="arrow 5"/>
          <p:cNvSpPr txBox="1"/>
          <p:nvPr/>
        </p:nvSpPr>
        <p:spPr>
          <a:xfrm>
            <a:off x="6656832" y="1325880"/>
            <a:ext cx="155448" cy="566928"/>
          </a:xfrm>
          <a:prstGeom prst="rect">
            <a:avLst/>
          </a:prstGeom>
          <a:noFill/>
          <a:ln/>
        </p:spPr>
        <p:txBody>
          <a:bodyPr wrap="square" lIns="0" tIns="0" rIns="0" bIns="0" rtlCol="0" anchor="ctr"/>
          <a:lstStyle/>
          <a:p>
            <a:pPr algn="ctr" indent="0" marL="0">
              <a:buNone/>
            </a:pPr>
            <a:r>
              <a:rPr lang="en-US" sz="1600" dirty="0">
                <a:solidFill>
                  <a:schemeClr val="accent5"/>
                </a:solidFill>
              </a:rPr>
              <a:t>›</a:t>
            </a:r>
            <a:endParaRPr lang="en-US" sz="1600" dirty="0"/>
          </a:p>
        </p:txBody>
      </p:sp>
      <p:sp>
        <p:nvSpPr>
          <p:cNvPr id="21" name="Helm step"/>
          <p:cNvSpPr/>
          <p:nvPr/>
        </p:nvSpPr>
        <p:spPr>
          <a:xfrm>
            <a:off x="6812280" y="1325880"/>
            <a:ext cx="896112" cy="566928"/>
          </a:xfrm>
          <a:prstGeom prst="roundRect">
            <a:avLst>
              <a:gd name="adj" fmla="val 12903"/>
            </a:avLst>
          </a:prstGeom>
          <a:solidFill>
            <a:schemeClr val="accent1"/>
          </a:solidFill>
          <a:ln/>
        </p:spPr>
      </p:sp>
      <p:sp>
        <p:nvSpPr>
          <p:cNvPr id="22" name="Helm"/>
          <p:cNvSpPr txBox="1"/>
          <p:nvPr/>
        </p:nvSpPr>
        <p:spPr>
          <a:xfrm>
            <a:off x="6812280" y="1325880"/>
            <a:ext cx="896112" cy="566928"/>
          </a:xfrm>
          <a:prstGeom prst="rect">
            <a:avLst/>
          </a:prstGeom>
          <a:noFill/>
          <a:ln/>
        </p:spPr>
        <p:txBody>
          <a:bodyPr wrap="square" lIns="0" tIns="0" rIns="0" bIns="0" rtlCol="0" anchor="ctr"/>
          <a:lstStyle/>
          <a:p>
            <a:pPr algn="ctr" indent="0" marL="0">
              <a:buNone/>
            </a:pPr>
            <a:r>
              <a:rPr lang="en-US" sz="1200" b="1" dirty="0">
                <a:solidFill>
                  <a:schemeClr val="bg1"/>
                </a:solidFill>
              </a:rPr>
              <a:t>Helm</a:t>
            </a:r>
            <a:endParaRPr lang="en-US" sz="1200" dirty="0"/>
          </a:p>
        </p:txBody>
      </p:sp>
      <p:sp>
        <p:nvSpPr>
          <p:cNvPr id="23" name="arrow 6"/>
          <p:cNvSpPr txBox="1"/>
          <p:nvPr/>
        </p:nvSpPr>
        <p:spPr>
          <a:xfrm>
            <a:off x="7708392" y="1325880"/>
            <a:ext cx="155448" cy="566928"/>
          </a:xfrm>
          <a:prstGeom prst="rect">
            <a:avLst/>
          </a:prstGeom>
          <a:noFill/>
          <a:ln/>
        </p:spPr>
        <p:txBody>
          <a:bodyPr wrap="square" lIns="0" tIns="0" rIns="0" bIns="0" rtlCol="0" anchor="ctr"/>
          <a:lstStyle/>
          <a:p>
            <a:pPr algn="ctr" indent="0" marL="0">
              <a:buNone/>
            </a:pPr>
            <a:r>
              <a:rPr lang="en-US" sz="1600" dirty="0">
                <a:solidFill>
                  <a:schemeClr val="accent5"/>
                </a:solidFill>
              </a:rPr>
              <a:t>›</a:t>
            </a:r>
            <a:endParaRPr lang="en-US" sz="1600" dirty="0"/>
          </a:p>
        </p:txBody>
      </p:sp>
      <p:sp>
        <p:nvSpPr>
          <p:cNvPr id="24" name="EKS step"/>
          <p:cNvSpPr/>
          <p:nvPr/>
        </p:nvSpPr>
        <p:spPr>
          <a:xfrm>
            <a:off x="7863840" y="1325880"/>
            <a:ext cx="896112" cy="566928"/>
          </a:xfrm>
          <a:prstGeom prst="roundRect">
            <a:avLst>
              <a:gd name="adj" fmla="val 12903"/>
            </a:avLst>
          </a:prstGeom>
          <a:solidFill>
            <a:schemeClr val="tx2"/>
          </a:solidFill>
          <a:ln/>
        </p:spPr>
      </p:sp>
      <p:sp>
        <p:nvSpPr>
          <p:cNvPr id="25" name="EKS"/>
          <p:cNvSpPr txBox="1"/>
          <p:nvPr/>
        </p:nvSpPr>
        <p:spPr>
          <a:xfrm>
            <a:off x="7863840" y="1325880"/>
            <a:ext cx="896112" cy="566928"/>
          </a:xfrm>
          <a:prstGeom prst="rect">
            <a:avLst/>
          </a:prstGeom>
          <a:noFill/>
          <a:ln/>
        </p:spPr>
        <p:txBody>
          <a:bodyPr wrap="square" lIns="0" tIns="0" rIns="0" bIns="0" rtlCol="0" anchor="ctr"/>
          <a:lstStyle/>
          <a:p>
            <a:pPr algn="ctr" indent="0" marL="0">
              <a:buNone/>
            </a:pPr>
            <a:r>
              <a:rPr lang="en-US" sz="1200" b="1" dirty="0">
                <a:solidFill>
                  <a:schemeClr val="bg1"/>
                </a:solidFill>
              </a:rPr>
              <a:t>EKS</a:t>
            </a:r>
            <a:endParaRPr lang="en-US" sz="1200" dirty="0"/>
          </a:p>
        </p:txBody>
      </p:sp>
      <p:sp>
        <p:nvSpPr>
          <p:cNvPr id="26" name="caption"/>
          <p:cNvSpPr txBox="1"/>
          <p:nvPr/>
        </p:nvSpPr>
        <p:spPr>
          <a:xfrm>
            <a:off x="502920" y="1984248"/>
            <a:ext cx="6153912" cy="274320"/>
          </a:xfrm>
          <a:prstGeom prst="rect">
            <a:avLst/>
          </a:prstGeom>
          <a:noFill/>
          <a:ln/>
        </p:spPr>
        <p:txBody>
          <a:bodyPr wrap="square" lIns="0" tIns="0" rIns="0" bIns="0" rtlCol="0" anchor="ctr"/>
          <a:lstStyle/>
          <a:p>
            <a:pPr indent="0" marL="0">
              <a:buNone/>
            </a:pPr>
            <a:r>
              <a:rPr lang="en-US" sz="1100" i="1" dirty="0">
                <a:solidFill>
                  <a:schemeClr val="accent5"/>
                </a:solidFill>
              </a:rPr>
              <a:t>GitHub Actions</a:t>
            </a:r>
            <a:endParaRPr lang="en-US" sz="1100" dirty="0"/>
          </a:p>
        </p:txBody>
      </p:sp>
      <p:sp>
        <p:nvSpPr>
          <p:cNvPr id="27" name="caption"/>
          <p:cNvSpPr txBox="1"/>
          <p:nvPr/>
        </p:nvSpPr>
        <p:spPr>
          <a:xfrm>
            <a:off x="6812280" y="1984248"/>
            <a:ext cx="1947672" cy="274320"/>
          </a:xfrm>
          <a:prstGeom prst="rect">
            <a:avLst/>
          </a:prstGeom>
          <a:noFill/>
          <a:ln/>
        </p:spPr>
        <p:txBody>
          <a:bodyPr wrap="square" lIns="0" tIns="0" rIns="0" bIns="0" rtlCol="0" anchor="ctr"/>
          <a:lstStyle/>
          <a:p>
            <a:pPr indent="0" marL="0">
              <a:buNone/>
            </a:pPr>
            <a:r>
              <a:rPr lang="en-US" sz="1100" i="1" dirty="0">
                <a:solidFill>
                  <a:schemeClr val="accent5"/>
                </a:solidFill>
              </a:rPr>
              <a:t>AWS, built by Terraform</a:t>
            </a:r>
            <a:endParaRPr lang="en-US" sz="1100" dirty="0"/>
          </a:p>
        </p:txBody>
      </p:sp>
      <p:sp>
        <p:nvSpPr>
          <p:cNvPr id="28" name="Commit SHA card"/>
          <p:cNvSpPr/>
          <p:nvPr/>
        </p:nvSpPr>
        <p:spPr>
          <a:xfrm>
            <a:off x="502920" y="2606040"/>
            <a:ext cx="2606040" cy="1783080"/>
          </a:xfrm>
          <a:prstGeom prst="roundRect">
            <a:avLst>
              <a:gd name="adj" fmla="val 4103"/>
            </a:avLst>
          </a:prstGeom>
          <a:solidFill>
            <a:schemeClr val="bg2"/>
          </a:solidFill>
          <a:ln/>
        </p:spPr>
      </p:sp>
      <p:sp>
        <p:nvSpPr>
          <p:cNvPr id="29" name="Commit SHA circle"/>
          <p:cNvSpPr/>
          <p:nvPr/>
        </p:nvSpPr>
        <p:spPr>
          <a:xfrm>
            <a:off x="731520" y="2788920"/>
            <a:ext cx="457200" cy="457200"/>
          </a:xfrm>
          <a:prstGeom prst="ellipse">
            <a:avLst/>
          </a:prstGeom>
          <a:solidFill>
            <a:schemeClr val="bg1"/>
          </a:solidFill>
          <a:ln/>
        </p:spPr>
      </p:sp>
      <p:pic>
        <p:nvPicPr>
          <p:cNvPr id="30" name="Commit SHA icon" descr="Commit SHA">    </p:cNvPr>
          <p:cNvPicPr>
            <a:picLocks noChangeAspect="1"/>
          </p:cNvPicPr>
          <p:nvPr/>
        </p:nvPicPr>
        <p:blipFill>
          <a:blip r:embed="rId1"/>
          <a:stretch>
            <a:fillRect/>
          </a:stretch>
        </p:blipFill>
        <p:spPr>
          <a:xfrm>
            <a:off x="845820" y="2903220"/>
            <a:ext cx="228600" cy="228600"/>
          </a:xfrm>
          <a:prstGeom prst="rect">
            <a:avLst/>
          </a:prstGeom>
        </p:spPr>
      </p:pic>
      <p:sp>
        <p:nvSpPr>
          <p:cNvPr id="31" name="Commit SHA"/>
          <p:cNvSpPr txBox="1"/>
          <p:nvPr/>
        </p:nvSpPr>
        <p:spPr>
          <a:xfrm>
            <a:off x="731520" y="3337560"/>
            <a:ext cx="2194560" cy="960120"/>
          </a:xfrm>
          <a:prstGeom prst="rect">
            <a:avLst/>
          </a:prstGeom>
          <a:noFill/>
          <a:ln/>
        </p:spPr>
        <p:txBody>
          <a:bodyPr wrap="square" lIns="0" tIns="0" rIns="0" bIns="0" rtlCol="0" anchor="t"/>
          <a:lstStyle/>
          <a:p>
            <a:pPr indent="0" marL="0">
              <a:buNone/>
            </a:pPr>
            <a:r>
              <a:rPr lang="en-US" sz="1800" b="1" dirty="0">
                <a:solidFill>
                  <a:schemeClr val="tx2"/>
                </a:solidFill>
              </a:rPr>
              <a:t>Commit SHA</a:t>
            </a:r>
            <a:endParaRPr lang="en-US" sz="1800" dirty="0"/>
          </a:p>
          <a:p>
            <a:pPr indent="0" marL="0">
              <a:buNone/>
            </a:pPr>
            <a:r>
              <a:rPr lang="en-US" sz="1200" dirty="0">
                <a:solidFill>
                  <a:schemeClr val="accent5"/>
                </a:solidFill>
              </a:rPr>
              <a:t>is the image tag, so every running pod traces back to one commit</a:t>
            </a:r>
            <a:endParaRPr lang="en-US" sz="1800" dirty="0"/>
          </a:p>
        </p:txBody>
      </p:sp>
      <p:sp>
        <p:nvSpPr>
          <p:cNvPr id="32" name="Quality gate card"/>
          <p:cNvSpPr/>
          <p:nvPr/>
        </p:nvSpPr>
        <p:spPr>
          <a:xfrm>
            <a:off x="3291840" y="2606040"/>
            <a:ext cx="2606040" cy="1783080"/>
          </a:xfrm>
          <a:prstGeom prst="roundRect">
            <a:avLst>
              <a:gd name="adj" fmla="val 4103"/>
            </a:avLst>
          </a:prstGeom>
          <a:solidFill>
            <a:schemeClr val="bg2"/>
          </a:solidFill>
          <a:ln/>
        </p:spPr>
      </p:sp>
      <p:sp>
        <p:nvSpPr>
          <p:cNvPr id="33" name="Quality gate circle"/>
          <p:cNvSpPr/>
          <p:nvPr/>
        </p:nvSpPr>
        <p:spPr>
          <a:xfrm>
            <a:off x="3520440" y="2788920"/>
            <a:ext cx="457200" cy="457200"/>
          </a:xfrm>
          <a:prstGeom prst="ellipse">
            <a:avLst/>
          </a:prstGeom>
          <a:solidFill>
            <a:schemeClr val="bg1"/>
          </a:solidFill>
          <a:ln/>
        </p:spPr>
      </p:sp>
      <p:pic>
        <p:nvPicPr>
          <p:cNvPr id="34" name="Quality gate icon" descr="Quality gate">    </p:cNvPr>
          <p:cNvPicPr>
            <a:picLocks noChangeAspect="1"/>
          </p:cNvPicPr>
          <p:nvPr/>
        </p:nvPicPr>
        <p:blipFill>
          <a:blip r:embed="rId2"/>
          <a:stretch>
            <a:fillRect/>
          </a:stretch>
        </p:blipFill>
        <p:spPr>
          <a:xfrm>
            <a:off x="3634740" y="2903220"/>
            <a:ext cx="228600" cy="228600"/>
          </a:xfrm>
          <a:prstGeom prst="rect">
            <a:avLst/>
          </a:prstGeom>
        </p:spPr>
      </p:pic>
      <p:sp>
        <p:nvSpPr>
          <p:cNvPr id="35" name="Quality gate"/>
          <p:cNvSpPr txBox="1"/>
          <p:nvPr/>
        </p:nvSpPr>
        <p:spPr>
          <a:xfrm>
            <a:off x="3520440" y="3337560"/>
            <a:ext cx="2194560" cy="960120"/>
          </a:xfrm>
          <a:prstGeom prst="rect">
            <a:avLst/>
          </a:prstGeom>
          <a:noFill/>
          <a:ln/>
        </p:spPr>
        <p:txBody>
          <a:bodyPr wrap="square" lIns="0" tIns="0" rIns="0" bIns="0" rtlCol="0" anchor="t"/>
          <a:lstStyle/>
          <a:p>
            <a:pPr indent="0" marL="0">
              <a:buNone/>
            </a:pPr>
            <a:r>
              <a:rPr lang="en-US" sz="1800" b="1" dirty="0">
                <a:solidFill>
                  <a:schemeClr val="tx2"/>
                </a:solidFill>
              </a:rPr>
              <a:t>Quality gate</a:t>
            </a:r>
            <a:endParaRPr lang="en-US" sz="1800" dirty="0"/>
          </a:p>
          <a:p>
            <a:pPr indent="0" marL="0">
              <a:buNone/>
            </a:pPr>
            <a:r>
              <a:rPr lang="en-US" sz="1200" dirty="0">
                <a:solidFill>
                  <a:schemeClr val="accent5"/>
                </a:solidFill>
              </a:rPr>
              <a:t>a failed test or a fixable HIGH/CRITICAL CVE stops the release</a:t>
            </a:r>
            <a:endParaRPr lang="en-US" sz="1800" dirty="0"/>
          </a:p>
        </p:txBody>
      </p:sp>
      <p:sp>
        <p:nvSpPr>
          <p:cNvPr id="36" name="No stored keys card"/>
          <p:cNvSpPr/>
          <p:nvPr/>
        </p:nvSpPr>
        <p:spPr>
          <a:xfrm>
            <a:off x="6080760" y="2606040"/>
            <a:ext cx="2606040" cy="1783080"/>
          </a:xfrm>
          <a:prstGeom prst="roundRect">
            <a:avLst>
              <a:gd name="adj" fmla="val 4103"/>
            </a:avLst>
          </a:prstGeom>
          <a:solidFill>
            <a:schemeClr val="bg2"/>
          </a:solidFill>
          <a:ln/>
        </p:spPr>
      </p:sp>
      <p:sp>
        <p:nvSpPr>
          <p:cNvPr id="37" name="No stored keys circle"/>
          <p:cNvSpPr/>
          <p:nvPr/>
        </p:nvSpPr>
        <p:spPr>
          <a:xfrm>
            <a:off x="6309360" y="2788920"/>
            <a:ext cx="457200" cy="457200"/>
          </a:xfrm>
          <a:prstGeom prst="ellipse">
            <a:avLst/>
          </a:prstGeom>
          <a:solidFill>
            <a:schemeClr val="bg1"/>
          </a:solidFill>
          <a:ln/>
        </p:spPr>
      </p:sp>
      <p:pic>
        <p:nvPicPr>
          <p:cNvPr id="38" name="No stored keys icon" descr="No stored keys">    </p:cNvPr>
          <p:cNvPicPr>
            <a:picLocks noChangeAspect="1"/>
          </p:cNvPicPr>
          <p:nvPr/>
        </p:nvPicPr>
        <p:blipFill>
          <a:blip r:embed="rId3"/>
          <a:stretch>
            <a:fillRect/>
          </a:stretch>
        </p:blipFill>
        <p:spPr>
          <a:xfrm>
            <a:off x="6423660" y="2903220"/>
            <a:ext cx="228600" cy="228600"/>
          </a:xfrm>
          <a:prstGeom prst="rect">
            <a:avLst/>
          </a:prstGeom>
        </p:spPr>
      </p:pic>
      <p:sp>
        <p:nvSpPr>
          <p:cNvPr id="39" name="No stored keys"/>
          <p:cNvSpPr txBox="1"/>
          <p:nvPr/>
        </p:nvSpPr>
        <p:spPr>
          <a:xfrm>
            <a:off x="6309360" y="3337560"/>
            <a:ext cx="2194560" cy="960120"/>
          </a:xfrm>
          <a:prstGeom prst="rect">
            <a:avLst/>
          </a:prstGeom>
          <a:noFill/>
          <a:ln/>
        </p:spPr>
        <p:txBody>
          <a:bodyPr wrap="square" lIns="0" tIns="0" rIns="0" bIns="0" rtlCol="0" anchor="t"/>
          <a:lstStyle/>
          <a:p>
            <a:pPr indent="0" marL="0">
              <a:buNone/>
            </a:pPr>
            <a:r>
              <a:rPr lang="en-US" sz="1800" b="1" dirty="0">
                <a:solidFill>
                  <a:schemeClr val="tx2"/>
                </a:solidFill>
              </a:rPr>
              <a:t>No stored keys</a:t>
            </a:r>
            <a:endParaRPr lang="en-US" sz="1800" dirty="0"/>
          </a:p>
          <a:p>
            <a:pPr indent="0" marL="0">
              <a:buNone/>
            </a:pPr>
            <a:r>
              <a:rPr lang="en-US" sz="1200" dirty="0">
                <a:solidFill>
                  <a:schemeClr val="accent5"/>
                </a:solidFill>
              </a:rPr>
              <a:t>GitHub OIDC assumes a short-lived AWS role to deploy</a:t>
            </a:r>
            <a:endParaRPr lang="en-US" sz="1800" dirty="0"/>
          </a:p>
        </p:txBody>
      </p:sp>
      <p:sp>
        <p:nvSpPr>
          <p:cNvPr id="25" name="Slide Number Placeholder 0"/>
          <p:cNvSpPr>
            <a:spLocks noGrp="1"/>
          </p:cNvSpPr>
          <p:nvPr>
            <p:ph type="sldNum" sz="quarter" idx="4294967295"/>
          </p:nvPr>
        </p:nvSpPr>
        <p:spPr>
          <a:xfrm>
            <a:off x="8321040" y="4754880"/>
            <a:ext cx="36576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40080"/>
          </a:xfrm>
          <a:prstGeom prst="rect">
            <a:avLst/>
          </a:prstGeom>
          <a:noFill/>
          <a:ln/>
        </p:spPr>
        <p:txBody>
          <a:bodyPr wrap="square" lIns="0" tIns="0" rIns="0" bIns="0" rtlCol="0" anchor="ctr"/>
          <a:lstStyle/>
          <a:p>
            <a:pPr algn="l" indent="0" marL="0">
              <a:buNone/>
            </a:pPr>
            <a:r>
              <a:rPr lang="en-US" sz="3200" b="1" dirty="0">
                <a:solidFill>
                  <a:schemeClr val="tx2"/>
                </a:solidFill>
              </a:rPr>
              <a:t>CI/CD and security</a:t>
            </a:r>
            <a:endParaRPr lang="en-US" sz="3200" dirty="0"/>
          </a:p>
        </p:txBody>
      </p:sp>
      <p:sp>
        <p:nvSpPr>
          <p:cNvPr id="3" name="GitHub Actions run frame"/>
          <p:cNvSpPr/>
          <p:nvPr/>
        </p:nvSpPr>
        <p:spPr>
          <a:xfrm>
            <a:off x="448056" y="1179576"/>
            <a:ext cx="5276088" cy="2603392"/>
          </a:xfrm>
          <a:prstGeom prst="roundRect">
            <a:avLst>
              <a:gd name="adj" fmla="val 2107"/>
            </a:avLst>
          </a:prstGeom>
          <a:solidFill>
            <a:schemeClr val="bg1"/>
          </a:solidFill>
          <a:ln w="12700">
            <a:solidFill>
              <a:srgbClr val="EAF4F1"/>
            </a:solidFill>
            <a:prstDash val="solid"/>
          </a:ln>
          <a:effectLst>
            <a:outerShdw sx="100000" sy="100000" kx="0" ky="0" algn="bl" rotWithShape="0" blurRad="101600" dist="25400" dir="5400000">
              <a:srgbClr val="0C3437">
                <a:alpha val="18000"/>
              </a:srgbClr>
            </a:outerShdw>
          </a:effectLst>
        </p:spPr>
      </p:sp>
      <p:pic>
        <p:nvPicPr>
          <p:cNvPr id="4" name="GitHub Actions run" descr="GitHub Actions run">    </p:cNvPr>
          <p:cNvPicPr>
            <a:picLocks noChangeAspect="1"/>
          </p:cNvPicPr>
          <p:nvPr/>
        </p:nvPicPr>
        <p:blipFill>
          <a:blip r:embed="rId1"/>
          <a:stretch>
            <a:fillRect/>
          </a:stretch>
        </p:blipFill>
        <p:spPr>
          <a:xfrm>
            <a:off x="502920" y="1234440"/>
            <a:ext cx="5166360" cy="2493664"/>
          </a:xfrm>
          <a:prstGeom prst="rect">
            <a:avLst/>
          </a:prstGeom>
        </p:spPr>
      </p:pic>
      <p:sp>
        <p:nvSpPr>
          <p:cNvPr id="5" name="caption"/>
          <p:cNvSpPr txBox="1"/>
          <p:nvPr/>
        </p:nvSpPr>
        <p:spPr>
          <a:xfrm>
            <a:off x="457200" y="3840480"/>
            <a:ext cx="5257800" cy="274320"/>
          </a:xfrm>
          <a:prstGeom prst="rect">
            <a:avLst/>
          </a:prstGeom>
          <a:noFill/>
          <a:ln/>
        </p:spPr>
        <p:txBody>
          <a:bodyPr wrap="square" lIns="0" tIns="0" rIns="0" bIns="0" rtlCol="0" anchor="ctr"/>
          <a:lstStyle/>
          <a:p>
            <a:pPr indent="0" marL="0">
              <a:buNone/>
            </a:pPr>
            <a:r>
              <a:rPr lang="en-US" sz="1100" i="1" dirty="0">
                <a:solidFill>
                  <a:schemeClr val="accent5"/>
                </a:solidFill>
              </a:rPr>
              <a:t>A real run: every job green, ending in the Helm deploy to EKS</a:t>
            </a:r>
            <a:endParaRPr lang="en-US" sz="1100" dirty="0"/>
          </a:p>
        </p:txBody>
      </p:sp>
      <p:sp>
        <p:nvSpPr>
          <p:cNvPr id="6" name="5 / 5 jobs card"/>
          <p:cNvSpPr/>
          <p:nvPr/>
        </p:nvSpPr>
        <p:spPr>
          <a:xfrm>
            <a:off x="5989320" y="1188720"/>
            <a:ext cx="2697480" cy="960120"/>
          </a:xfrm>
          <a:prstGeom prst="roundRect">
            <a:avLst>
              <a:gd name="adj" fmla="val 7619"/>
            </a:avLst>
          </a:prstGeom>
          <a:solidFill>
            <a:schemeClr val="bg2"/>
          </a:solidFill>
          <a:ln/>
        </p:spPr>
      </p:sp>
      <p:sp>
        <p:nvSpPr>
          <p:cNvPr id="7" name="5 / 5 jobs"/>
          <p:cNvSpPr txBox="1"/>
          <p:nvPr/>
        </p:nvSpPr>
        <p:spPr>
          <a:xfrm>
            <a:off x="6172200" y="1280160"/>
            <a:ext cx="2331720" cy="777240"/>
          </a:xfrm>
          <a:prstGeom prst="rect">
            <a:avLst/>
          </a:prstGeom>
          <a:noFill/>
          <a:ln/>
        </p:spPr>
        <p:txBody>
          <a:bodyPr wrap="square" lIns="0" tIns="0" rIns="0" bIns="0" rtlCol="0" anchor="ctr"/>
          <a:lstStyle/>
          <a:p>
            <a:pPr indent="0" marL="0">
              <a:buNone/>
            </a:pPr>
            <a:r>
              <a:rPr lang="en-US" sz="2600" b="1" dirty="0">
                <a:solidFill>
                  <a:schemeClr val="accent1"/>
                </a:solidFill>
              </a:rPr>
              <a:t>5 / 5 jobs</a:t>
            </a:r>
            <a:endParaRPr lang="en-US" sz="2600" dirty="0"/>
          </a:p>
          <a:p>
            <a:pPr indent="0" marL="0">
              <a:buNone/>
            </a:pPr>
            <a:r>
              <a:rPr lang="en-US" sz="1200" dirty="0">
                <a:solidFill>
                  <a:schemeClr val="accent5"/>
                </a:solidFill>
              </a:rPr>
              <a:t>green, ending in the EKS deploy</a:t>
            </a:r>
            <a:endParaRPr lang="en-US" sz="2600" dirty="0"/>
          </a:p>
        </p:txBody>
      </p:sp>
      <p:sp>
        <p:nvSpPr>
          <p:cNvPr id="8" name="0 card"/>
          <p:cNvSpPr/>
          <p:nvPr/>
        </p:nvSpPr>
        <p:spPr>
          <a:xfrm>
            <a:off x="5989320" y="2286000"/>
            <a:ext cx="2697480" cy="960120"/>
          </a:xfrm>
          <a:prstGeom prst="roundRect">
            <a:avLst>
              <a:gd name="adj" fmla="val 7619"/>
            </a:avLst>
          </a:prstGeom>
          <a:solidFill>
            <a:schemeClr val="bg2"/>
          </a:solidFill>
          <a:ln/>
        </p:spPr>
      </p:sp>
      <p:sp>
        <p:nvSpPr>
          <p:cNvPr id="9" name="0"/>
          <p:cNvSpPr txBox="1"/>
          <p:nvPr/>
        </p:nvSpPr>
        <p:spPr>
          <a:xfrm>
            <a:off x="6172200" y="2377440"/>
            <a:ext cx="2331720" cy="777240"/>
          </a:xfrm>
          <a:prstGeom prst="rect">
            <a:avLst/>
          </a:prstGeom>
          <a:noFill/>
          <a:ln/>
        </p:spPr>
        <p:txBody>
          <a:bodyPr wrap="square" lIns="0" tIns="0" rIns="0" bIns="0" rtlCol="0" anchor="ctr"/>
          <a:lstStyle/>
          <a:p>
            <a:pPr indent="0" marL="0">
              <a:buNone/>
            </a:pPr>
            <a:r>
              <a:rPr lang="en-US" sz="2600" b="1" dirty="0">
                <a:solidFill>
                  <a:schemeClr val="accent1"/>
                </a:solidFill>
              </a:rPr>
              <a:t>0</a:t>
            </a:r>
            <a:endParaRPr lang="en-US" sz="2600" dirty="0"/>
          </a:p>
          <a:p>
            <a:pPr indent="0" marL="0">
              <a:buNone/>
            </a:pPr>
            <a:r>
              <a:rPr lang="en-US" sz="1200" dirty="0">
                <a:solidFill>
                  <a:schemeClr val="accent5"/>
                </a:solidFill>
              </a:rPr>
              <a:t>fixable HIGH/CRITICAL CVEs in both images</a:t>
            </a:r>
            <a:endParaRPr lang="en-US" sz="2600" dirty="0"/>
          </a:p>
        </p:txBody>
      </p:sp>
      <p:sp>
        <p:nvSpPr>
          <p:cNvPr id="10" name="Non-root card"/>
          <p:cNvSpPr/>
          <p:nvPr/>
        </p:nvSpPr>
        <p:spPr>
          <a:xfrm>
            <a:off x="5989320" y="3383280"/>
            <a:ext cx="2697480" cy="960120"/>
          </a:xfrm>
          <a:prstGeom prst="roundRect">
            <a:avLst>
              <a:gd name="adj" fmla="val 7619"/>
            </a:avLst>
          </a:prstGeom>
          <a:solidFill>
            <a:schemeClr val="bg2"/>
          </a:solidFill>
          <a:ln/>
        </p:spPr>
      </p:sp>
      <p:sp>
        <p:nvSpPr>
          <p:cNvPr id="11" name="Non-root"/>
          <p:cNvSpPr txBox="1"/>
          <p:nvPr/>
        </p:nvSpPr>
        <p:spPr>
          <a:xfrm>
            <a:off x="6172200" y="3474720"/>
            <a:ext cx="2331720" cy="777240"/>
          </a:xfrm>
          <a:prstGeom prst="rect">
            <a:avLst/>
          </a:prstGeom>
          <a:noFill/>
          <a:ln/>
        </p:spPr>
        <p:txBody>
          <a:bodyPr wrap="square" lIns="0" tIns="0" rIns="0" bIns="0" rtlCol="0" anchor="ctr"/>
          <a:lstStyle/>
          <a:p>
            <a:pPr indent="0" marL="0">
              <a:buNone/>
            </a:pPr>
            <a:r>
              <a:rPr lang="en-US" sz="2600" b="1" dirty="0">
                <a:solidFill>
                  <a:srgbClr val="1F5E8C"/>
                </a:solidFill>
              </a:rPr>
              <a:t>Non-root</a:t>
            </a:r>
            <a:endParaRPr lang="en-US" sz="2600" dirty="0"/>
          </a:p>
          <a:p>
            <a:pPr indent="0" marL="0">
              <a:buNone/>
            </a:pPr>
            <a:r>
              <a:rPr lang="en-US" sz="1200" dirty="0">
                <a:solidFill>
                  <a:schemeClr val="accent5"/>
                </a:solidFill>
              </a:rPr>
              <a:t>backend uid 10001, frontend uid 101</a:t>
            </a:r>
            <a:endParaRPr lang="en-US" sz="2600" dirty="0"/>
          </a:p>
        </p:txBody>
      </p:sp>
      <p:sp>
        <p:nvSpPr>
          <p:cNvPr id="25" name="Slide Number Placeholder 0"/>
          <p:cNvSpPr>
            <a:spLocks noGrp="1"/>
          </p:cNvSpPr>
          <p:nvPr>
            <p:ph type="sldNum" sz="quarter" idx="4294967295"/>
          </p:nvPr>
        </p:nvSpPr>
        <p:spPr>
          <a:xfrm>
            <a:off x="8321040" y="4754880"/>
            <a:ext cx="36576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40080"/>
          </a:xfrm>
          <a:prstGeom prst="rect">
            <a:avLst/>
          </a:prstGeom>
          <a:noFill/>
          <a:ln/>
        </p:spPr>
        <p:txBody>
          <a:bodyPr wrap="square" lIns="0" tIns="0" rIns="0" bIns="0" rtlCol="0" anchor="ctr"/>
          <a:lstStyle/>
          <a:p>
            <a:pPr algn="l" indent="0" marL="0">
              <a:buNone/>
            </a:pPr>
            <a:r>
              <a:rPr lang="en-US" sz="3200" b="1" dirty="0">
                <a:solidFill>
                  <a:schemeClr val="tx2"/>
                </a:solidFill>
              </a:rPr>
              <a:t>Infrastructure as code</a:t>
            </a:r>
            <a:endParaRPr lang="en-US" sz="3200" dirty="0"/>
          </a:p>
        </p:txBody>
      </p:sp>
      <p:sp>
        <p:nvSpPr>
          <p:cNvPr id="3" name="VPC across 2 AZs circle"/>
          <p:cNvSpPr/>
          <p:nvPr/>
        </p:nvSpPr>
        <p:spPr>
          <a:xfrm>
            <a:off x="502920" y="1188720"/>
            <a:ext cx="420624" cy="420624"/>
          </a:xfrm>
          <a:prstGeom prst="ellipse">
            <a:avLst/>
          </a:prstGeom>
          <a:solidFill>
            <a:schemeClr val="bg2"/>
          </a:solidFill>
          <a:ln/>
        </p:spPr>
      </p:sp>
      <p:pic>
        <p:nvPicPr>
          <p:cNvPr id="4" name="VPC across 2 AZs icon" descr="VPC across 2 AZs">    </p:cNvPr>
          <p:cNvPicPr>
            <a:picLocks noChangeAspect="1"/>
          </p:cNvPicPr>
          <p:nvPr/>
        </p:nvPicPr>
        <p:blipFill>
          <a:blip r:embed="rId1"/>
          <a:stretch>
            <a:fillRect/>
          </a:stretch>
        </p:blipFill>
        <p:spPr>
          <a:xfrm>
            <a:off x="608076" y="1293876"/>
            <a:ext cx="210312" cy="210312"/>
          </a:xfrm>
          <a:prstGeom prst="rect">
            <a:avLst/>
          </a:prstGeom>
        </p:spPr>
      </p:pic>
      <p:sp>
        <p:nvSpPr>
          <p:cNvPr id="5" name="VPC across 2 AZs"/>
          <p:cNvSpPr txBox="1"/>
          <p:nvPr/>
        </p:nvSpPr>
        <p:spPr>
          <a:xfrm>
            <a:off x="1069848" y="1152144"/>
            <a:ext cx="3364992" cy="795528"/>
          </a:xfrm>
          <a:prstGeom prst="rect">
            <a:avLst/>
          </a:prstGeom>
          <a:noFill/>
          <a:ln/>
        </p:spPr>
        <p:txBody>
          <a:bodyPr wrap="square" lIns="0" tIns="0" rIns="0" bIns="0" rtlCol="0" anchor="t"/>
          <a:lstStyle/>
          <a:p>
            <a:pPr indent="0" marL="0">
              <a:buNone/>
            </a:pPr>
            <a:r>
              <a:rPr lang="en-US" sz="1500" b="1" dirty="0">
                <a:solidFill>
                  <a:schemeClr val="tx2"/>
                </a:solidFill>
              </a:rPr>
              <a:t>VPC across 2 AZs</a:t>
            </a:r>
            <a:endParaRPr lang="en-US" sz="1500" dirty="0"/>
          </a:p>
          <a:p>
            <a:pPr indent="0" marL="0">
              <a:buNone/>
            </a:pPr>
            <a:r>
              <a:rPr lang="en-US" sz="1200" dirty="0">
                <a:solidFill>
                  <a:schemeClr val="accent5"/>
                </a:solidFill>
              </a:rPr>
              <a:t>Public subnets + NAT gateway, private subnets for nodes</a:t>
            </a:r>
            <a:endParaRPr lang="en-US" sz="1500" dirty="0"/>
          </a:p>
        </p:txBody>
      </p:sp>
      <p:sp>
        <p:nvSpPr>
          <p:cNvPr id="6" name="EKS 1.36 + managed nodes circle"/>
          <p:cNvSpPr/>
          <p:nvPr/>
        </p:nvSpPr>
        <p:spPr>
          <a:xfrm>
            <a:off x="502920" y="2057400"/>
            <a:ext cx="420624" cy="420624"/>
          </a:xfrm>
          <a:prstGeom prst="ellipse">
            <a:avLst/>
          </a:prstGeom>
          <a:solidFill>
            <a:schemeClr val="bg2"/>
          </a:solidFill>
          <a:ln/>
        </p:spPr>
      </p:sp>
      <p:pic>
        <p:nvPicPr>
          <p:cNvPr id="7" name="EKS 1.36 + managed nodes icon" descr="EKS 1.36 + managed nodes">    </p:cNvPr>
          <p:cNvPicPr>
            <a:picLocks noChangeAspect="1"/>
          </p:cNvPicPr>
          <p:nvPr/>
        </p:nvPicPr>
        <p:blipFill>
          <a:blip r:embed="rId2"/>
          <a:stretch>
            <a:fillRect/>
          </a:stretch>
        </p:blipFill>
        <p:spPr>
          <a:xfrm>
            <a:off x="608076" y="2162556"/>
            <a:ext cx="210312" cy="210312"/>
          </a:xfrm>
          <a:prstGeom prst="rect">
            <a:avLst/>
          </a:prstGeom>
        </p:spPr>
      </p:pic>
      <p:sp>
        <p:nvSpPr>
          <p:cNvPr id="8" name="EKS 1.36 + managed nodes"/>
          <p:cNvSpPr txBox="1"/>
          <p:nvPr/>
        </p:nvSpPr>
        <p:spPr>
          <a:xfrm>
            <a:off x="1069848" y="2020824"/>
            <a:ext cx="3364992" cy="795528"/>
          </a:xfrm>
          <a:prstGeom prst="rect">
            <a:avLst/>
          </a:prstGeom>
          <a:noFill/>
          <a:ln/>
        </p:spPr>
        <p:txBody>
          <a:bodyPr wrap="square" lIns="0" tIns="0" rIns="0" bIns="0" rtlCol="0" anchor="t"/>
          <a:lstStyle/>
          <a:p>
            <a:pPr indent="0" marL="0">
              <a:buNone/>
            </a:pPr>
            <a:r>
              <a:rPr lang="en-US" sz="1500" b="1" dirty="0">
                <a:solidFill>
                  <a:schemeClr val="tx2"/>
                </a:solidFill>
              </a:rPr>
              <a:t>EKS 1.36 + managed nodes</a:t>
            </a:r>
            <a:endParaRPr lang="en-US" sz="1500" dirty="0"/>
          </a:p>
          <a:p>
            <a:pPr indent="0" marL="0">
              <a:buNone/>
            </a:pPr>
            <a:r>
              <a:rPr lang="en-US" sz="1200" dirty="0">
                <a:solidFill>
                  <a:schemeClr val="accent5"/>
                </a:solidFill>
              </a:rPr>
              <a:t>2 × t3.medium; VPC CNI, CoreDNS, EBS CSI via Pod Identity</a:t>
            </a:r>
            <a:endParaRPr lang="en-US" sz="1500" dirty="0"/>
          </a:p>
        </p:txBody>
      </p:sp>
      <p:sp>
        <p:nvSpPr>
          <p:cNvPr id="9" name="GitHub OIDC deploy role circle"/>
          <p:cNvSpPr/>
          <p:nvPr/>
        </p:nvSpPr>
        <p:spPr>
          <a:xfrm>
            <a:off x="502920" y="2926080"/>
            <a:ext cx="420624" cy="420624"/>
          </a:xfrm>
          <a:prstGeom prst="ellipse">
            <a:avLst/>
          </a:prstGeom>
          <a:solidFill>
            <a:schemeClr val="bg2"/>
          </a:solidFill>
          <a:ln/>
        </p:spPr>
      </p:sp>
      <p:pic>
        <p:nvPicPr>
          <p:cNvPr id="10" name="GitHub OIDC deploy role icon" descr="GitHub OIDC deploy role">    </p:cNvPr>
          <p:cNvPicPr>
            <a:picLocks noChangeAspect="1"/>
          </p:cNvPicPr>
          <p:nvPr/>
        </p:nvPicPr>
        <p:blipFill>
          <a:blip r:embed="rId3"/>
          <a:stretch>
            <a:fillRect/>
          </a:stretch>
        </p:blipFill>
        <p:spPr>
          <a:xfrm>
            <a:off x="608076" y="3031236"/>
            <a:ext cx="210312" cy="210312"/>
          </a:xfrm>
          <a:prstGeom prst="rect">
            <a:avLst/>
          </a:prstGeom>
        </p:spPr>
      </p:pic>
      <p:sp>
        <p:nvSpPr>
          <p:cNvPr id="11" name="GitHub OIDC deploy role"/>
          <p:cNvSpPr txBox="1"/>
          <p:nvPr/>
        </p:nvSpPr>
        <p:spPr>
          <a:xfrm>
            <a:off x="1069848" y="2889504"/>
            <a:ext cx="3364992" cy="795528"/>
          </a:xfrm>
          <a:prstGeom prst="rect">
            <a:avLst/>
          </a:prstGeom>
          <a:noFill/>
          <a:ln/>
        </p:spPr>
        <p:txBody>
          <a:bodyPr wrap="square" lIns="0" tIns="0" rIns="0" bIns="0" rtlCol="0" anchor="t"/>
          <a:lstStyle/>
          <a:p>
            <a:pPr indent="0" marL="0">
              <a:buNone/>
            </a:pPr>
            <a:r>
              <a:rPr lang="en-US" sz="1500" b="1" dirty="0">
                <a:solidFill>
                  <a:schemeClr val="tx2"/>
                </a:solidFill>
              </a:rPr>
              <a:t>GitHub OIDC deploy role</a:t>
            </a:r>
            <a:endParaRPr lang="en-US" sz="1500" dirty="0"/>
          </a:p>
          <a:p>
            <a:pPr indent="0" marL="0">
              <a:buNone/>
            </a:pPr>
            <a:r>
              <a:rPr lang="en-US" sz="1200" dirty="0">
                <a:solidFill>
                  <a:schemeClr val="accent5"/>
                </a:solidFill>
              </a:rPr>
              <a:t>Only the main branch of this repo can assume it</a:t>
            </a:r>
            <a:endParaRPr lang="en-US" sz="1500" dirty="0"/>
          </a:p>
        </p:txBody>
      </p:sp>
      <p:sp>
        <p:nvSpPr>
          <p:cNvPr id="12" name="64 resources, one plan circle"/>
          <p:cNvSpPr/>
          <p:nvPr/>
        </p:nvSpPr>
        <p:spPr>
          <a:xfrm>
            <a:off x="502920" y="3794760"/>
            <a:ext cx="420624" cy="420624"/>
          </a:xfrm>
          <a:prstGeom prst="ellipse">
            <a:avLst/>
          </a:prstGeom>
          <a:solidFill>
            <a:schemeClr val="bg2"/>
          </a:solidFill>
          <a:ln/>
        </p:spPr>
      </p:sp>
      <p:pic>
        <p:nvPicPr>
          <p:cNvPr id="13" name="64 resources, one plan icon" descr="64 resources, one plan">    </p:cNvPr>
          <p:cNvPicPr>
            <a:picLocks noChangeAspect="1"/>
          </p:cNvPicPr>
          <p:nvPr/>
        </p:nvPicPr>
        <p:blipFill>
          <a:blip r:embed="rId4"/>
          <a:stretch>
            <a:fillRect/>
          </a:stretch>
        </p:blipFill>
        <p:spPr>
          <a:xfrm>
            <a:off x="608076" y="3899916"/>
            <a:ext cx="210312" cy="210312"/>
          </a:xfrm>
          <a:prstGeom prst="rect">
            <a:avLst/>
          </a:prstGeom>
        </p:spPr>
      </p:pic>
      <p:sp>
        <p:nvSpPr>
          <p:cNvPr id="14" name="64 resources, one plan"/>
          <p:cNvSpPr txBox="1"/>
          <p:nvPr/>
        </p:nvSpPr>
        <p:spPr>
          <a:xfrm>
            <a:off x="1069848" y="3758184"/>
            <a:ext cx="3364992" cy="795528"/>
          </a:xfrm>
          <a:prstGeom prst="rect">
            <a:avLst/>
          </a:prstGeom>
          <a:noFill/>
          <a:ln/>
        </p:spPr>
        <p:txBody>
          <a:bodyPr wrap="square" lIns="0" tIns="0" rIns="0" bIns="0" rtlCol="0" anchor="t"/>
          <a:lstStyle/>
          <a:p>
            <a:pPr indent="0" marL="0">
              <a:buNone/>
            </a:pPr>
            <a:r>
              <a:rPr lang="en-US" sz="1500" b="1" dirty="0">
                <a:solidFill>
                  <a:schemeClr val="tx2"/>
                </a:solidFill>
              </a:rPr>
              <a:t>64 resources, one plan</a:t>
            </a:r>
            <a:endParaRPr lang="en-US" sz="1500" dirty="0"/>
          </a:p>
          <a:p>
            <a:pPr indent="0" marL="0">
              <a:buNone/>
            </a:pPr>
            <a:r>
              <a:rPr lang="en-US" sz="1200" dirty="0">
                <a:solidFill>
                  <a:schemeClr val="accent5"/>
                </a:solidFill>
              </a:rPr>
              <a:t>terraform plan, apply, and destroy after the demo</a:t>
            </a:r>
            <a:endParaRPr lang="en-US" sz="1500" dirty="0"/>
          </a:p>
        </p:txBody>
      </p:sp>
      <p:sp>
        <p:nvSpPr>
          <p:cNvPr id="15" name="AWS console subnets and EKS nodes frame"/>
          <p:cNvSpPr/>
          <p:nvPr/>
        </p:nvSpPr>
        <p:spPr>
          <a:xfrm>
            <a:off x="4700016" y="1133856"/>
            <a:ext cx="4041648" cy="2543984"/>
          </a:xfrm>
          <a:prstGeom prst="roundRect">
            <a:avLst>
              <a:gd name="adj" fmla="val 2157"/>
            </a:avLst>
          </a:prstGeom>
          <a:solidFill>
            <a:schemeClr val="bg1"/>
          </a:solidFill>
          <a:ln w="12700">
            <a:solidFill>
              <a:srgbClr val="EAF4F1"/>
            </a:solidFill>
            <a:prstDash val="solid"/>
          </a:ln>
          <a:effectLst>
            <a:outerShdw sx="100000" sy="100000" kx="0" ky="0" algn="bl" rotWithShape="0" blurRad="101600" dist="25400" dir="5400000">
              <a:srgbClr val="0C3437">
                <a:alpha val="18000"/>
              </a:srgbClr>
            </a:outerShdw>
          </a:effectLst>
        </p:spPr>
      </p:sp>
      <p:pic>
        <p:nvPicPr>
          <p:cNvPr id="16" name="AWS console subnets and EKS nodes" descr="AWS console subnets and EKS nodes">    </p:cNvPr>
          <p:cNvPicPr>
            <a:picLocks noChangeAspect="1"/>
          </p:cNvPicPr>
          <p:nvPr/>
        </p:nvPicPr>
        <p:blipFill>
          <a:blip r:embed="rId5"/>
          <a:stretch>
            <a:fillRect/>
          </a:stretch>
        </p:blipFill>
        <p:spPr>
          <a:xfrm>
            <a:off x="4754880" y="1188720"/>
            <a:ext cx="3931920" cy="2434256"/>
          </a:xfrm>
          <a:prstGeom prst="rect">
            <a:avLst/>
          </a:prstGeom>
        </p:spPr>
      </p:pic>
      <p:sp>
        <p:nvSpPr>
          <p:cNvPr id="17" name="caption"/>
          <p:cNvSpPr txBox="1"/>
          <p:nvPr/>
        </p:nvSpPr>
        <p:spPr>
          <a:xfrm>
            <a:off x="4709160" y="3760136"/>
            <a:ext cx="4023360" cy="274320"/>
          </a:xfrm>
          <a:prstGeom prst="rect">
            <a:avLst/>
          </a:prstGeom>
          <a:noFill/>
          <a:ln/>
        </p:spPr>
        <p:txBody>
          <a:bodyPr wrap="square" lIns="0" tIns="0" rIns="0" bIns="0" rtlCol="0" anchor="ctr"/>
          <a:lstStyle/>
          <a:p>
            <a:pPr indent="0" marL="0">
              <a:buNone/>
            </a:pPr>
            <a:r>
              <a:rPr lang="en-US" sz="1100" i="1" dirty="0">
                <a:solidFill>
                  <a:schemeClr val="accent5"/>
                </a:solidFill>
              </a:rPr>
              <a:t>AWS console: the Terraform VPC's 4 subnets and the 2 EKS nodes</a:t>
            </a:r>
            <a:endParaRPr lang="en-US" sz="1100" dirty="0"/>
          </a:p>
        </p:txBody>
      </p:sp>
      <p:sp>
        <p:nvSpPr>
          <p:cNvPr id="25" name="Slide Number Placeholder 0"/>
          <p:cNvSpPr>
            <a:spLocks noGrp="1"/>
          </p:cNvSpPr>
          <p:nvPr>
            <p:ph type="sldNum" sz="quarter" idx="4294967295"/>
          </p:nvPr>
        </p:nvSpPr>
        <p:spPr>
          <a:xfrm>
            <a:off x="8321040" y="4754880"/>
            <a:ext cx="36576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40080"/>
          </a:xfrm>
          <a:prstGeom prst="rect">
            <a:avLst/>
          </a:prstGeom>
          <a:noFill/>
          <a:ln/>
        </p:spPr>
        <p:txBody>
          <a:bodyPr wrap="square" lIns="0" tIns="0" rIns="0" bIns="0" rtlCol="0" anchor="ctr"/>
          <a:lstStyle/>
          <a:p>
            <a:pPr algn="l" indent="0" marL="0">
              <a:buNone/>
            </a:pPr>
            <a:r>
              <a:rPr lang="en-US" sz="3200" b="1" dirty="0">
                <a:solidFill>
                  <a:schemeClr val="tx2"/>
                </a:solidFill>
              </a:rPr>
              <a:t>Kubernetes and Helm on EKS</a:t>
            </a:r>
            <a:endParaRPr lang="en-US" sz="3200" dirty="0"/>
          </a:p>
        </p:txBody>
      </p:sp>
      <p:sp>
        <p:nvSpPr>
          <p:cNvPr id="3" name="kubectl output on EKS frame"/>
          <p:cNvSpPr/>
          <p:nvPr/>
        </p:nvSpPr>
        <p:spPr>
          <a:xfrm>
            <a:off x="448056" y="1133856"/>
            <a:ext cx="8247888" cy="1866281"/>
          </a:xfrm>
          <a:prstGeom prst="roundRect">
            <a:avLst>
              <a:gd name="adj" fmla="val 2940"/>
            </a:avLst>
          </a:prstGeom>
          <a:solidFill>
            <a:schemeClr val="bg1"/>
          </a:solidFill>
          <a:ln w="12700">
            <a:solidFill>
              <a:srgbClr val="EAF4F1"/>
            </a:solidFill>
            <a:prstDash val="solid"/>
          </a:ln>
          <a:effectLst>
            <a:outerShdw sx="100000" sy="100000" kx="0" ky="0" algn="bl" rotWithShape="0" blurRad="101600" dist="25400" dir="5400000">
              <a:srgbClr val="0C3437">
                <a:alpha val="18000"/>
              </a:srgbClr>
            </a:outerShdw>
          </a:effectLst>
        </p:spPr>
      </p:sp>
      <p:pic>
        <p:nvPicPr>
          <p:cNvPr id="4" name="kubectl output on EKS" descr="kubectl output on EKS">    </p:cNvPr>
          <p:cNvPicPr>
            <a:picLocks noChangeAspect="1"/>
          </p:cNvPicPr>
          <p:nvPr/>
        </p:nvPicPr>
        <p:blipFill>
          <a:blip r:embed="rId1"/>
          <a:stretch>
            <a:fillRect/>
          </a:stretch>
        </p:blipFill>
        <p:spPr>
          <a:xfrm>
            <a:off x="502920" y="1188720"/>
            <a:ext cx="8138160" cy="1756553"/>
          </a:xfrm>
          <a:prstGeom prst="rect">
            <a:avLst/>
          </a:prstGeom>
        </p:spPr>
      </p:pic>
      <p:sp>
        <p:nvSpPr>
          <p:cNvPr id="5" name="Helm chart card"/>
          <p:cNvSpPr/>
          <p:nvPr/>
        </p:nvSpPr>
        <p:spPr>
          <a:xfrm>
            <a:off x="502920" y="3383280"/>
            <a:ext cx="2606040" cy="1143000"/>
          </a:xfrm>
          <a:prstGeom prst="roundRect">
            <a:avLst>
              <a:gd name="adj" fmla="val 6400"/>
            </a:avLst>
          </a:prstGeom>
          <a:solidFill>
            <a:schemeClr val="bg2"/>
          </a:solidFill>
          <a:ln/>
        </p:spPr>
      </p:sp>
      <p:sp>
        <p:nvSpPr>
          <p:cNvPr id="6" name="Helm chart circle"/>
          <p:cNvSpPr/>
          <p:nvPr/>
        </p:nvSpPr>
        <p:spPr>
          <a:xfrm>
            <a:off x="685800" y="3520440"/>
            <a:ext cx="384048" cy="384048"/>
          </a:xfrm>
          <a:prstGeom prst="ellipse">
            <a:avLst/>
          </a:prstGeom>
          <a:solidFill>
            <a:schemeClr val="bg1"/>
          </a:solidFill>
          <a:ln/>
        </p:spPr>
      </p:sp>
      <p:pic>
        <p:nvPicPr>
          <p:cNvPr id="7" name="Helm chart icon" descr="Helm chart">    </p:cNvPr>
          <p:cNvPicPr>
            <a:picLocks noChangeAspect="1"/>
          </p:cNvPicPr>
          <p:nvPr/>
        </p:nvPicPr>
        <p:blipFill>
          <a:blip r:embed="rId2"/>
          <a:stretch>
            <a:fillRect/>
          </a:stretch>
        </p:blipFill>
        <p:spPr>
          <a:xfrm>
            <a:off x="781812" y="3616452"/>
            <a:ext cx="192024" cy="192024"/>
          </a:xfrm>
          <a:prstGeom prst="rect">
            <a:avLst/>
          </a:prstGeom>
        </p:spPr>
      </p:pic>
      <p:sp>
        <p:nvSpPr>
          <p:cNvPr id="8" name="Helm chart"/>
          <p:cNvSpPr txBox="1"/>
          <p:nvPr/>
        </p:nvSpPr>
        <p:spPr>
          <a:xfrm>
            <a:off x="1188720" y="3474720"/>
            <a:ext cx="1783080" cy="1005840"/>
          </a:xfrm>
          <a:prstGeom prst="rect">
            <a:avLst/>
          </a:prstGeom>
          <a:noFill/>
          <a:ln/>
        </p:spPr>
        <p:txBody>
          <a:bodyPr wrap="square" lIns="0" tIns="0" rIns="0" bIns="0" rtlCol="0" anchor="t"/>
          <a:lstStyle/>
          <a:p>
            <a:pPr indent="0" marL="0">
              <a:buNone/>
            </a:pPr>
            <a:r>
              <a:rPr lang="en-US" sz="1500" b="1" dirty="0">
                <a:solidFill>
                  <a:schemeClr val="tx2"/>
                </a:solidFill>
              </a:rPr>
              <a:t>Helm chart</a:t>
            </a:r>
            <a:endParaRPr lang="en-US" sz="1500" dirty="0"/>
          </a:p>
          <a:p>
            <a:pPr indent="0" marL="0">
              <a:buNone/>
            </a:pPr>
            <a:r>
              <a:rPr lang="en-US" sz="1200" dirty="0">
                <a:solidFill>
                  <a:schemeClr val="accent5"/>
                </a:solidFill>
              </a:rPr>
              <a:t>2+ backend and frontend pods, PostgreSQL StatefulSet on a gp3 volume</a:t>
            </a:r>
            <a:endParaRPr lang="en-US" sz="1500" dirty="0"/>
          </a:p>
        </p:txBody>
      </p:sp>
      <p:sp>
        <p:nvSpPr>
          <p:cNvPr id="9" name="Ingress card"/>
          <p:cNvSpPr/>
          <p:nvPr/>
        </p:nvSpPr>
        <p:spPr>
          <a:xfrm>
            <a:off x="3291840" y="3383280"/>
            <a:ext cx="2606040" cy="1143000"/>
          </a:xfrm>
          <a:prstGeom prst="roundRect">
            <a:avLst>
              <a:gd name="adj" fmla="val 6400"/>
            </a:avLst>
          </a:prstGeom>
          <a:solidFill>
            <a:schemeClr val="bg2"/>
          </a:solidFill>
          <a:ln/>
        </p:spPr>
      </p:sp>
      <p:sp>
        <p:nvSpPr>
          <p:cNvPr id="10" name="Ingress circle"/>
          <p:cNvSpPr/>
          <p:nvPr/>
        </p:nvSpPr>
        <p:spPr>
          <a:xfrm>
            <a:off x="3474720" y="3520440"/>
            <a:ext cx="384048" cy="384048"/>
          </a:xfrm>
          <a:prstGeom prst="ellipse">
            <a:avLst/>
          </a:prstGeom>
          <a:solidFill>
            <a:schemeClr val="bg1"/>
          </a:solidFill>
          <a:ln/>
        </p:spPr>
      </p:sp>
      <p:pic>
        <p:nvPicPr>
          <p:cNvPr id="11" name="Ingress icon" descr="Ingress">    </p:cNvPr>
          <p:cNvPicPr>
            <a:picLocks noChangeAspect="1"/>
          </p:cNvPicPr>
          <p:nvPr/>
        </p:nvPicPr>
        <p:blipFill>
          <a:blip r:embed="rId3"/>
          <a:stretch>
            <a:fillRect/>
          </a:stretch>
        </p:blipFill>
        <p:spPr>
          <a:xfrm>
            <a:off x="3570732" y="3616452"/>
            <a:ext cx="192024" cy="192024"/>
          </a:xfrm>
          <a:prstGeom prst="rect">
            <a:avLst/>
          </a:prstGeom>
        </p:spPr>
      </p:pic>
      <p:sp>
        <p:nvSpPr>
          <p:cNvPr id="12" name="Ingress"/>
          <p:cNvSpPr txBox="1"/>
          <p:nvPr/>
        </p:nvSpPr>
        <p:spPr>
          <a:xfrm>
            <a:off x="3977640" y="3474720"/>
            <a:ext cx="1783080" cy="1005840"/>
          </a:xfrm>
          <a:prstGeom prst="rect">
            <a:avLst/>
          </a:prstGeom>
          <a:noFill/>
          <a:ln/>
        </p:spPr>
        <p:txBody>
          <a:bodyPr wrap="square" lIns="0" tIns="0" rIns="0" bIns="0" rtlCol="0" anchor="t"/>
          <a:lstStyle/>
          <a:p>
            <a:pPr indent="0" marL="0">
              <a:buNone/>
            </a:pPr>
            <a:r>
              <a:rPr lang="en-US" sz="1500" b="1" dirty="0">
                <a:solidFill>
                  <a:schemeClr val="tx2"/>
                </a:solidFill>
              </a:rPr>
              <a:t>Ingress</a:t>
            </a:r>
            <a:endParaRPr lang="en-US" sz="1500" dirty="0"/>
          </a:p>
          <a:p>
            <a:pPr indent="0" marL="0">
              <a:buNone/>
            </a:pPr>
            <a:r>
              <a:rPr lang="en-US" sz="1200" dirty="0">
                <a:solidFill>
                  <a:schemeClr val="accent5"/>
                </a:solidFill>
              </a:rPr>
              <a:t>/ to React, /api to FastAPI, through an AWS Network Load Balancer</a:t>
            </a:r>
            <a:endParaRPr lang="en-US" sz="1500" dirty="0"/>
          </a:p>
        </p:txBody>
      </p:sp>
      <p:sp>
        <p:nvSpPr>
          <p:cNvPr id="13" name="Self-healing card"/>
          <p:cNvSpPr/>
          <p:nvPr/>
        </p:nvSpPr>
        <p:spPr>
          <a:xfrm>
            <a:off x="6080760" y="3383280"/>
            <a:ext cx="2606040" cy="1143000"/>
          </a:xfrm>
          <a:prstGeom prst="roundRect">
            <a:avLst>
              <a:gd name="adj" fmla="val 6400"/>
            </a:avLst>
          </a:prstGeom>
          <a:solidFill>
            <a:schemeClr val="bg2"/>
          </a:solidFill>
          <a:ln/>
        </p:spPr>
      </p:sp>
      <p:sp>
        <p:nvSpPr>
          <p:cNvPr id="14" name="Self-healing circle"/>
          <p:cNvSpPr/>
          <p:nvPr/>
        </p:nvSpPr>
        <p:spPr>
          <a:xfrm>
            <a:off x="6263640" y="3520440"/>
            <a:ext cx="384048" cy="384048"/>
          </a:xfrm>
          <a:prstGeom prst="ellipse">
            <a:avLst/>
          </a:prstGeom>
          <a:solidFill>
            <a:schemeClr val="bg1"/>
          </a:solidFill>
          <a:ln/>
        </p:spPr>
      </p:sp>
      <p:pic>
        <p:nvPicPr>
          <p:cNvPr id="15" name="Self-healing icon" descr="Self-healing">    </p:cNvPr>
          <p:cNvPicPr>
            <a:picLocks noChangeAspect="1"/>
          </p:cNvPicPr>
          <p:nvPr/>
        </p:nvPicPr>
        <p:blipFill>
          <a:blip r:embed="rId4"/>
          <a:stretch>
            <a:fillRect/>
          </a:stretch>
        </p:blipFill>
        <p:spPr>
          <a:xfrm>
            <a:off x="6359652" y="3616452"/>
            <a:ext cx="192024" cy="192024"/>
          </a:xfrm>
          <a:prstGeom prst="rect">
            <a:avLst/>
          </a:prstGeom>
        </p:spPr>
      </p:pic>
      <p:sp>
        <p:nvSpPr>
          <p:cNvPr id="16" name="Self-healing"/>
          <p:cNvSpPr txBox="1"/>
          <p:nvPr/>
        </p:nvSpPr>
        <p:spPr>
          <a:xfrm>
            <a:off x="6766560" y="3474720"/>
            <a:ext cx="1783080" cy="1005840"/>
          </a:xfrm>
          <a:prstGeom prst="rect">
            <a:avLst/>
          </a:prstGeom>
          <a:noFill/>
          <a:ln/>
        </p:spPr>
        <p:txBody>
          <a:bodyPr wrap="square" lIns="0" tIns="0" rIns="0" bIns="0" rtlCol="0" anchor="t"/>
          <a:lstStyle/>
          <a:p>
            <a:pPr indent="0" marL="0">
              <a:buNone/>
            </a:pPr>
            <a:r>
              <a:rPr lang="en-US" sz="1500" b="1" dirty="0">
                <a:solidFill>
                  <a:schemeClr val="tx2"/>
                </a:solidFill>
              </a:rPr>
              <a:t>Self-healing</a:t>
            </a:r>
            <a:endParaRPr lang="en-US" sz="1500" dirty="0"/>
          </a:p>
          <a:p>
            <a:pPr indent="0" marL="0">
              <a:buNone/>
            </a:pPr>
            <a:r>
              <a:rPr lang="en-US" sz="1200" dirty="0">
                <a:solidFill>
                  <a:schemeClr val="accent5"/>
                </a:solidFill>
              </a:rPr>
              <a:t>startup, readiness and liveness probes, plus PodDisruptionBudgets</a:t>
            </a:r>
            <a:endParaRPr lang="en-US" sz="1500" dirty="0"/>
          </a:p>
        </p:txBody>
      </p:sp>
      <p:sp>
        <p:nvSpPr>
          <p:cNvPr id="25" name="Slide Number Placeholder 0"/>
          <p:cNvSpPr>
            <a:spLocks noGrp="1"/>
          </p:cNvSpPr>
          <p:nvPr>
            <p:ph type="sldNum" sz="quarter" idx="4294967295"/>
          </p:nvPr>
        </p:nvSpPr>
        <p:spPr>
          <a:xfrm>
            <a:off x="8321040" y="4754880"/>
            <a:ext cx="36576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40080"/>
          </a:xfrm>
          <a:prstGeom prst="rect">
            <a:avLst/>
          </a:prstGeom>
          <a:noFill/>
          <a:ln/>
        </p:spPr>
        <p:txBody>
          <a:bodyPr wrap="square" lIns="0" tIns="0" rIns="0" bIns="0" rtlCol="0" anchor="ctr"/>
          <a:lstStyle/>
          <a:p>
            <a:pPr algn="l" indent="0" marL="0">
              <a:buNone/>
            </a:pPr>
            <a:r>
              <a:rPr lang="en-US" sz="3200" b="1" dirty="0">
                <a:solidFill>
                  <a:schemeClr val="tx2"/>
                </a:solidFill>
              </a:rPr>
              <a:t>Autoscaling and monitoring</a:t>
            </a:r>
            <a:endParaRPr lang="en-US" sz="3200" dirty="0"/>
          </a:p>
        </p:txBody>
      </p:sp>
      <p:sp>
        <p:nvSpPr>
          <p:cNvPr id="3" name="Grafana StockPilot dashboard frame"/>
          <p:cNvSpPr/>
          <p:nvPr/>
        </p:nvSpPr>
        <p:spPr>
          <a:xfrm>
            <a:off x="448056" y="1133856"/>
            <a:ext cx="5504688" cy="3056206"/>
          </a:xfrm>
          <a:prstGeom prst="roundRect">
            <a:avLst>
              <a:gd name="adj" fmla="val 1795"/>
            </a:avLst>
          </a:prstGeom>
          <a:solidFill>
            <a:schemeClr val="bg1"/>
          </a:solidFill>
          <a:ln w="12700">
            <a:solidFill>
              <a:srgbClr val="EAF4F1"/>
            </a:solidFill>
            <a:prstDash val="solid"/>
          </a:ln>
          <a:effectLst>
            <a:outerShdw sx="100000" sy="100000" kx="0" ky="0" algn="bl" rotWithShape="0" blurRad="101600" dist="25400" dir="5400000">
              <a:srgbClr val="0C3437">
                <a:alpha val="18000"/>
              </a:srgbClr>
            </a:outerShdw>
          </a:effectLst>
        </p:spPr>
      </p:sp>
      <p:pic>
        <p:nvPicPr>
          <p:cNvPr id="4" name="Grafana StockPilot dashboard" descr="Grafana StockPilot dashboard">    </p:cNvPr>
          <p:cNvPicPr>
            <a:picLocks noChangeAspect="1"/>
          </p:cNvPicPr>
          <p:nvPr/>
        </p:nvPicPr>
        <p:blipFill>
          <a:blip r:embed="rId1"/>
          <a:stretch>
            <a:fillRect/>
          </a:stretch>
        </p:blipFill>
        <p:spPr>
          <a:xfrm>
            <a:off x="502920" y="1188720"/>
            <a:ext cx="5394960" cy="2946478"/>
          </a:xfrm>
          <a:prstGeom prst="rect">
            <a:avLst/>
          </a:prstGeom>
        </p:spPr>
      </p:pic>
      <p:sp>
        <p:nvSpPr>
          <p:cNvPr id="5" name="caption"/>
          <p:cNvSpPr txBox="1"/>
          <p:nvPr/>
        </p:nvSpPr>
        <p:spPr>
          <a:xfrm>
            <a:off x="457200" y="4224528"/>
            <a:ext cx="5486400" cy="274320"/>
          </a:xfrm>
          <a:prstGeom prst="rect">
            <a:avLst/>
          </a:prstGeom>
          <a:noFill/>
          <a:ln/>
        </p:spPr>
        <p:txBody>
          <a:bodyPr wrap="square" lIns="0" tIns="0" rIns="0" bIns="0" rtlCol="0" anchor="ctr"/>
          <a:lstStyle/>
          <a:p>
            <a:pPr indent="0" marL="0">
              <a:buNone/>
            </a:pPr>
            <a:r>
              <a:rPr lang="en-US" sz="1100" i="1" dirty="0">
                <a:solidFill>
                  <a:schemeClr val="accent5"/>
                </a:solidFill>
              </a:rPr>
              <a:t>The Grafana dashboard ships with the Helm chart and loads automatically</a:t>
            </a:r>
            <a:endParaRPr lang="en-US" sz="1100" dirty="0"/>
          </a:p>
        </p:txBody>
      </p:sp>
      <p:sp>
        <p:nvSpPr>
          <p:cNvPr id="6" name="2 → 6 pods card"/>
          <p:cNvSpPr/>
          <p:nvPr/>
        </p:nvSpPr>
        <p:spPr>
          <a:xfrm>
            <a:off x="6217920" y="1188720"/>
            <a:ext cx="2468880" cy="960120"/>
          </a:xfrm>
          <a:prstGeom prst="roundRect">
            <a:avLst>
              <a:gd name="adj" fmla="val 7619"/>
            </a:avLst>
          </a:prstGeom>
          <a:solidFill>
            <a:schemeClr val="bg2"/>
          </a:solidFill>
          <a:ln/>
        </p:spPr>
      </p:sp>
      <p:sp>
        <p:nvSpPr>
          <p:cNvPr id="7" name="2 → 6 pods"/>
          <p:cNvSpPr txBox="1"/>
          <p:nvPr/>
        </p:nvSpPr>
        <p:spPr>
          <a:xfrm>
            <a:off x="6400800" y="1280160"/>
            <a:ext cx="2103120" cy="777240"/>
          </a:xfrm>
          <a:prstGeom prst="rect">
            <a:avLst/>
          </a:prstGeom>
          <a:noFill/>
          <a:ln/>
        </p:spPr>
        <p:txBody>
          <a:bodyPr wrap="square" lIns="0" tIns="0" rIns="0" bIns="0" rtlCol="0" anchor="ctr"/>
          <a:lstStyle/>
          <a:p>
            <a:pPr indent="0" marL="0">
              <a:buNone/>
            </a:pPr>
            <a:r>
              <a:rPr lang="en-US" sz="2600" b="1" dirty="0">
                <a:solidFill>
                  <a:schemeClr val="accent1"/>
                </a:solidFill>
              </a:rPr>
              <a:t>2 → 6 pods</a:t>
            </a:r>
            <a:endParaRPr lang="en-US" sz="2600" dirty="0"/>
          </a:p>
          <a:p>
            <a:pPr indent="0" marL="0">
              <a:buNone/>
            </a:pPr>
            <a:r>
              <a:rPr lang="en-US" sz="1200" dirty="0">
                <a:solidFill>
                  <a:schemeClr val="accent5"/>
                </a:solidFill>
              </a:rPr>
              <a:t>HPA scaled the backend under load</a:t>
            </a:r>
            <a:endParaRPr lang="en-US" sz="2600" dirty="0"/>
          </a:p>
        </p:txBody>
      </p:sp>
      <p:sp>
        <p:nvSpPr>
          <p:cNvPr id="8" name="~660 req/s card"/>
          <p:cNvSpPr/>
          <p:nvPr/>
        </p:nvSpPr>
        <p:spPr>
          <a:xfrm>
            <a:off x="6217920" y="2286000"/>
            <a:ext cx="2468880" cy="960120"/>
          </a:xfrm>
          <a:prstGeom prst="roundRect">
            <a:avLst>
              <a:gd name="adj" fmla="val 7619"/>
            </a:avLst>
          </a:prstGeom>
          <a:solidFill>
            <a:schemeClr val="bg2"/>
          </a:solidFill>
          <a:ln/>
        </p:spPr>
      </p:sp>
      <p:sp>
        <p:nvSpPr>
          <p:cNvPr id="9" name="~660 req/s"/>
          <p:cNvSpPr txBox="1"/>
          <p:nvPr/>
        </p:nvSpPr>
        <p:spPr>
          <a:xfrm>
            <a:off x="6400800" y="2377440"/>
            <a:ext cx="2103120" cy="777240"/>
          </a:xfrm>
          <a:prstGeom prst="rect">
            <a:avLst/>
          </a:prstGeom>
          <a:noFill/>
          <a:ln/>
        </p:spPr>
        <p:txBody>
          <a:bodyPr wrap="square" lIns="0" tIns="0" rIns="0" bIns="0" rtlCol="0" anchor="ctr"/>
          <a:lstStyle/>
          <a:p>
            <a:pPr indent="0" marL="0">
              <a:buNone/>
            </a:pPr>
            <a:r>
              <a:rPr lang="en-US" sz="2600" b="1" dirty="0">
                <a:solidFill>
                  <a:schemeClr val="accent1"/>
                </a:solidFill>
              </a:rPr>
              <a:t>~660 req/s</a:t>
            </a:r>
            <a:endParaRPr lang="en-US" sz="2600" dirty="0"/>
          </a:p>
          <a:p>
            <a:pPr indent="0" marL="0">
              <a:buNone/>
            </a:pPr>
            <a:r>
              <a:rPr lang="en-US" sz="1200" dirty="0">
                <a:solidFill>
                  <a:schemeClr val="accent5"/>
                </a:solidFill>
              </a:rPr>
              <a:t>peak traffic during the load test</a:t>
            </a:r>
            <a:endParaRPr lang="en-US" sz="2600" dirty="0"/>
          </a:p>
        </p:txBody>
      </p:sp>
      <p:sp>
        <p:nvSpPr>
          <p:cNvPr id="10" name="~95 ms card"/>
          <p:cNvSpPr/>
          <p:nvPr/>
        </p:nvSpPr>
        <p:spPr>
          <a:xfrm>
            <a:off x="6217920" y="3383280"/>
            <a:ext cx="2468880" cy="960120"/>
          </a:xfrm>
          <a:prstGeom prst="roundRect">
            <a:avLst>
              <a:gd name="adj" fmla="val 7619"/>
            </a:avLst>
          </a:prstGeom>
          <a:solidFill>
            <a:schemeClr val="bg2"/>
          </a:solidFill>
          <a:ln/>
        </p:spPr>
      </p:sp>
      <p:sp>
        <p:nvSpPr>
          <p:cNvPr id="11" name="~95 ms"/>
          <p:cNvSpPr txBox="1"/>
          <p:nvPr/>
        </p:nvSpPr>
        <p:spPr>
          <a:xfrm>
            <a:off x="6400800" y="3474720"/>
            <a:ext cx="2103120" cy="777240"/>
          </a:xfrm>
          <a:prstGeom prst="rect">
            <a:avLst/>
          </a:prstGeom>
          <a:noFill/>
          <a:ln/>
        </p:spPr>
        <p:txBody>
          <a:bodyPr wrap="square" lIns="0" tIns="0" rIns="0" bIns="0" rtlCol="0" anchor="ctr"/>
          <a:lstStyle/>
          <a:p>
            <a:pPr indent="0" marL="0">
              <a:buNone/>
            </a:pPr>
            <a:r>
              <a:rPr lang="en-US" sz="2600" b="1" dirty="0">
                <a:solidFill>
                  <a:schemeClr val="accent1"/>
                </a:solidFill>
              </a:rPr>
              <a:t>~95 ms</a:t>
            </a:r>
            <a:endParaRPr lang="en-US" sz="2600" dirty="0"/>
          </a:p>
          <a:p>
            <a:pPr indent="0" marL="0">
              <a:buNone/>
            </a:pPr>
            <a:r>
              <a:rPr lang="en-US" sz="1200" dirty="0">
                <a:solidFill>
                  <a:schemeClr val="accent5"/>
                </a:solidFill>
              </a:rPr>
              <a:t>p95 latency, scraped by Prometheus</a:t>
            </a:r>
            <a:endParaRPr lang="en-US" sz="2600" dirty="0"/>
          </a:p>
        </p:txBody>
      </p:sp>
      <p:sp>
        <p:nvSpPr>
          <p:cNvPr id="25" name="Slide Number Placeholder 0"/>
          <p:cNvSpPr>
            <a:spLocks noGrp="1"/>
          </p:cNvSpPr>
          <p:nvPr>
            <p:ph type="sldNum" sz="quarter" idx="4294967295"/>
          </p:nvPr>
        </p:nvSpPr>
        <p:spPr>
          <a:xfrm>
            <a:off x="8321040" y="4754880"/>
            <a:ext cx="36576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40080"/>
          </a:xfrm>
          <a:prstGeom prst="rect">
            <a:avLst/>
          </a:prstGeom>
          <a:noFill/>
          <a:ln/>
        </p:spPr>
        <p:txBody>
          <a:bodyPr wrap="square" lIns="0" tIns="0" rIns="0" bIns="0" rtlCol="0" anchor="ctr"/>
          <a:lstStyle/>
          <a:p>
            <a:pPr algn="l" indent="0" marL="0">
              <a:buNone/>
            </a:pPr>
            <a:r>
              <a:rPr lang="en-US" sz="3200" b="1" dirty="0">
                <a:solidFill>
                  <a:schemeClr val="tx2"/>
                </a:solidFill>
              </a:rPr>
              <a:t>Troubleshooting lab</a:t>
            </a:r>
            <a:endParaRPr lang="en-US" sz="3200" dirty="0"/>
          </a:p>
        </p:txBody>
      </p:sp>
      <p:sp>
        <p:nvSpPr>
          <p:cNvPr id="3" name="terminal"/>
          <p:cNvSpPr/>
          <p:nvPr/>
        </p:nvSpPr>
        <p:spPr>
          <a:xfrm>
            <a:off x="502920" y="1188720"/>
            <a:ext cx="4892040" cy="3383280"/>
          </a:xfrm>
          <a:prstGeom prst="roundRect">
            <a:avLst>
              <a:gd name="adj" fmla="val 2162"/>
            </a:avLst>
          </a:prstGeom>
          <a:solidFill>
            <a:schemeClr val="tx2"/>
          </a:solidFill>
          <a:ln/>
          <a:effectLst>
            <a:outerShdw sx="100000" sy="100000" kx="0" ky="0" algn="bl" rotWithShape="0" blurRad="101600" dist="25400" dir="5400000">
              <a:srgbClr val="0C3437">
                <a:alpha val="18000"/>
              </a:srgbClr>
            </a:outerShdw>
          </a:effectLst>
        </p:spPr>
      </p:sp>
      <p:sp>
        <p:nvSpPr>
          <p:cNvPr id="4" name="lab output"/>
          <p:cNvSpPr txBox="1"/>
          <p:nvPr/>
        </p:nvSpPr>
        <p:spPr>
          <a:xfrm>
            <a:off x="685800" y="1325880"/>
            <a:ext cx="4572000" cy="3108960"/>
          </a:xfrm>
          <a:prstGeom prst="rect">
            <a:avLst/>
          </a:prstGeom>
          <a:noFill/>
          <a:ln/>
        </p:spPr>
        <p:txBody>
          <a:bodyPr wrap="square" lIns="0" tIns="0" rIns="0" bIns="0" rtlCol="0" anchor="t"/>
          <a:lstStyle/>
          <a:p>
            <a:pPr indent="0" marL="0">
              <a:spcAft>
                <a:spcPts val="700"/>
              </a:spcAft>
              <a:buNone/>
            </a:pPr>
            <a:r>
              <a:rPr lang="en-US" sz="1100" dirty="0">
                <a:solidFill>
                  <a:srgbClr val="8FD3C1"/>
                </a:solidFill>
                <a:latin typeface="Courier New" pitchFamily="34" charset="0"/>
                <a:ea typeface="Courier New" pitchFamily="34" charset="-122"/>
                <a:cs typeface="Courier New" pitchFamily="34" charset="-120"/>
              </a:rPr>
              <a:t>$ kubectl get pods -l lab=broken-image</a:t>
            </a:r>
            <a:endParaRPr lang="en-US" sz="1100" dirty="0"/>
          </a:p>
          <a:p>
            <a:pPr indent="0" marL="0">
              <a:spcAft>
                <a:spcPts val="700"/>
              </a:spcAft>
              <a:buNone/>
            </a:pPr>
            <a:r>
              <a:rPr lang="en-US" sz="1100" dirty="0">
                <a:solidFill>
                  <a:srgbClr val="F7B2A6"/>
                </a:solidFill>
                <a:latin typeface="Courier New" pitchFamily="34" charset="0"/>
                <a:ea typeface="Courier New" pitchFamily="34" charset="-122"/>
                <a:cs typeface="Courier New" pitchFamily="34" charset="-120"/>
              </a:rPr>
              <a:t>broken-image-695b…   0/1   ImagePullBackOff</a:t>
            </a:r>
            <a:endParaRPr lang="en-US" sz="1100" dirty="0"/>
          </a:p>
          <a:p>
            <a:pPr indent="0" marL="0">
              <a:spcAft>
                <a:spcPts val="700"/>
              </a:spcAft>
              <a:buNone/>
            </a:pPr>
            <a:r>
              <a:rPr lang="en-US" sz="1100" dirty="0">
                <a:solidFill>
                  <a:srgbClr val="8FD3C1"/>
                </a:solidFill>
                <a:latin typeface="Courier New" pitchFamily="34" charset="0"/>
                <a:ea typeface="Courier New" pitchFamily="34" charset="-122"/>
                <a:cs typeface="Courier New" pitchFamily="34" charset="-120"/>
              </a:rPr>
              <a:t>$ kubectl describe pod -l lab=broken-image</a:t>
            </a:r>
            <a:endParaRPr lang="en-US" sz="1100" dirty="0"/>
          </a:p>
          <a:p>
            <a:pPr indent="0" marL="0">
              <a:spcAft>
                <a:spcPts val="700"/>
              </a:spcAft>
              <a:buNone/>
            </a:pPr>
            <a:r>
              <a:rPr lang="en-US" sz="1100" dirty="0">
                <a:solidFill>
                  <a:srgbClr val="F7B2A6"/>
                </a:solidFill>
                <a:latin typeface="Courier New" pitchFamily="34" charset="0"/>
                <a:ea typeface="Courier New" pitchFamily="34" charset="-122"/>
                <a:cs typeface="Courier New" pitchFamily="34" charset="-120"/>
              </a:rPr>
              <a:t>Failed to pull …:v9.9.9-does-not-exist: not found</a:t>
            </a:r>
            <a:endParaRPr lang="en-US" sz="1100" dirty="0"/>
          </a:p>
          <a:p>
            <a:pPr indent="0" marL="0">
              <a:spcAft>
                <a:spcPts val="700"/>
              </a:spcAft>
              <a:buNone/>
            </a:pPr>
            <a:r>
              <a:rPr lang="en-US" sz="1100" dirty="0">
                <a:solidFill>
                  <a:srgbClr val="8FD3C1"/>
                </a:solidFill>
                <a:latin typeface="Courier New" pitchFamily="34" charset="0"/>
                <a:ea typeface="Courier New" pitchFamily="34" charset="-122"/>
                <a:cs typeface="Courier New" pitchFamily="34" charset="-120"/>
              </a:rPr>
              <a:t>$ kubectl set image deploy/… backend=&lt;real tag&gt;</a:t>
            </a:r>
            <a:endParaRPr lang="en-US" sz="1100" dirty="0"/>
          </a:p>
          <a:p>
            <a:pPr indent="0" marL="0">
              <a:spcAft>
                <a:spcPts val="700"/>
              </a:spcAft>
              <a:buNone/>
            </a:pPr>
            <a:r>
              <a:rPr lang="en-US" sz="1100" dirty="0">
                <a:solidFill>
                  <a:srgbClr val="9FE3C9"/>
                </a:solidFill>
                <a:latin typeface="Courier New" pitchFamily="34" charset="0"/>
                <a:ea typeface="Courier New" pitchFamily="34" charset="-122"/>
                <a:cs typeface="Courier New" pitchFamily="34" charset="-120"/>
              </a:rPr>
              <a:t>broken-image-585f…   1/1   Running</a:t>
            </a:r>
            <a:endParaRPr lang="en-US" sz="1100" dirty="0"/>
          </a:p>
          <a:p>
            <a:pPr indent="0" marL="0">
              <a:spcAft>
                <a:spcPts val="700"/>
              </a:spcAft>
              <a:buNone/>
            </a:pPr>
            <a:r>
              <a:rPr lang="en-US" sz="1100" dirty="0">
                <a:solidFill>
                  <a:srgbClr val="D7E3E0"/>
                </a:solidFill>
                <a:latin typeface="Courier New" pitchFamily="34" charset="0"/>
                <a:ea typeface="Courier New" pitchFamily="34" charset="-122"/>
                <a:cs typeface="Courier New" pitchFamily="34" charset="-120"/>
              </a:rPr>
              <a:t> </a:t>
            </a:r>
            <a:endParaRPr lang="en-US" sz="1100" dirty="0"/>
          </a:p>
          <a:p>
            <a:pPr indent="0" marL="0">
              <a:spcAft>
                <a:spcPts val="700"/>
              </a:spcAft>
              <a:buNone/>
            </a:pPr>
            <a:r>
              <a:rPr lang="en-US" sz="1100" dirty="0">
                <a:solidFill>
                  <a:srgbClr val="8FD3C1"/>
                </a:solidFill>
                <a:latin typeface="Courier New" pitchFamily="34" charset="0"/>
                <a:ea typeface="Courier New" pitchFamily="34" charset="-122"/>
                <a:cs typeface="Courier New" pitchFamily="34" charset="-120"/>
              </a:rPr>
              <a:t>$ kubectl get endpointslices … api-broken</a:t>
            </a:r>
            <a:endParaRPr lang="en-US" sz="1100" dirty="0"/>
          </a:p>
          <a:p>
            <a:pPr indent="0" marL="0">
              <a:spcAft>
                <a:spcPts val="700"/>
              </a:spcAft>
              <a:buNone/>
            </a:pPr>
            <a:r>
              <a:rPr lang="en-US" sz="1100" dirty="0">
                <a:solidFill>
                  <a:srgbClr val="F7B2A6"/>
                </a:solidFill>
                <a:latin typeface="Courier New" pitchFamily="34" charset="0"/>
                <a:ea typeface="Courier New" pitchFamily="34" charset="-122"/>
                <a:cs typeface="Courier New" pitchFamily="34" charset="-120"/>
              </a:rPr>
              <a:t>stockpilot-api-broken   &lt;unset&gt;   (no endpoints)</a:t>
            </a:r>
            <a:endParaRPr lang="en-US" sz="1100" dirty="0"/>
          </a:p>
          <a:p>
            <a:pPr indent="0" marL="0">
              <a:spcAft>
                <a:spcPts val="700"/>
              </a:spcAft>
              <a:buNone/>
            </a:pPr>
            <a:r>
              <a:rPr lang="en-US" sz="1100" dirty="0">
                <a:solidFill>
                  <a:srgbClr val="8FD3C1"/>
                </a:solidFill>
                <a:latin typeface="Courier New" pitchFamily="34" charset="0"/>
                <a:ea typeface="Courier New" pitchFamily="34" charset="-122"/>
                <a:cs typeface="Courier New" pitchFamily="34" charset="-120"/>
              </a:rPr>
              <a:t>$ kubectl patch svc … selector=stockpilot-backend</a:t>
            </a:r>
            <a:endParaRPr lang="en-US" sz="1100" dirty="0"/>
          </a:p>
          <a:p>
            <a:pPr indent="0" marL="0">
              <a:spcAft>
                <a:spcPts val="700"/>
              </a:spcAft>
              <a:buNone/>
            </a:pPr>
            <a:r>
              <a:rPr lang="en-US" sz="1100" dirty="0">
                <a:solidFill>
                  <a:srgbClr val="9FE3C9"/>
                </a:solidFill>
                <a:latin typeface="Courier New" pitchFamily="34" charset="0"/>
                <a:ea typeface="Courier New" pitchFamily="34" charset="-122"/>
                <a:cs typeface="Courier New" pitchFamily="34" charset="-120"/>
              </a:rPr>
              <a:t>stockpilot-api-broken   8000   10.244.1.23,10.244.1.14</a:t>
            </a:r>
            <a:endParaRPr lang="en-US" sz="1100" dirty="0"/>
          </a:p>
        </p:txBody>
      </p:sp>
      <p:sp>
        <p:nvSpPr>
          <p:cNvPr id="5" name="ImagePullBackOff circle"/>
          <p:cNvSpPr/>
          <p:nvPr/>
        </p:nvSpPr>
        <p:spPr>
          <a:xfrm>
            <a:off x="5715000" y="1234440"/>
            <a:ext cx="420624" cy="420624"/>
          </a:xfrm>
          <a:prstGeom prst="ellipse">
            <a:avLst/>
          </a:prstGeom>
          <a:solidFill>
            <a:schemeClr val="bg2"/>
          </a:solidFill>
          <a:ln/>
        </p:spPr>
      </p:sp>
      <p:pic>
        <p:nvPicPr>
          <p:cNvPr id="6" name="ImagePullBackOff icon" descr="ImagePullBackOff">    </p:cNvPr>
          <p:cNvPicPr>
            <a:picLocks noChangeAspect="1"/>
          </p:cNvPicPr>
          <p:nvPr/>
        </p:nvPicPr>
        <p:blipFill>
          <a:blip r:embed="rId1"/>
          <a:stretch>
            <a:fillRect/>
          </a:stretch>
        </p:blipFill>
        <p:spPr>
          <a:xfrm>
            <a:off x="5820156" y="1339596"/>
            <a:ext cx="210312" cy="210312"/>
          </a:xfrm>
          <a:prstGeom prst="rect">
            <a:avLst/>
          </a:prstGeom>
        </p:spPr>
      </p:pic>
      <p:sp>
        <p:nvSpPr>
          <p:cNvPr id="7" name="ImagePullBackOff"/>
          <p:cNvSpPr txBox="1"/>
          <p:nvPr/>
        </p:nvSpPr>
        <p:spPr>
          <a:xfrm>
            <a:off x="6281928" y="1197864"/>
            <a:ext cx="2404872" cy="1024128"/>
          </a:xfrm>
          <a:prstGeom prst="rect">
            <a:avLst/>
          </a:prstGeom>
          <a:noFill/>
          <a:ln/>
        </p:spPr>
        <p:txBody>
          <a:bodyPr wrap="square" lIns="0" tIns="0" rIns="0" bIns="0" rtlCol="0" anchor="t"/>
          <a:lstStyle/>
          <a:p>
            <a:pPr indent="0" marL="0">
              <a:buNone/>
            </a:pPr>
            <a:r>
              <a:rPr lang="en-US" sz="1500" b="1" dirty="0">
                <a:solidFill>
                  <a:schemeClr val="tx2"/>
                </a:solidFill>
              </a:rPr>
              <a:t>ImagePullBackOff</a:t>
            </a:r>
            <a:endParaRPr lang="en-US" sz="1500" dirty="0"/>
          </a:p>
          <a:p>
            <a:pPr indent="0" marL="0">
              <a:buNone/>
            </a:pPr>
            <a:r>
              <a:rPr lang="en-US" sz="1200" dirty="0">
                <a:solidFill>
                  <a:schemeClr val="accent5"/>
                </a:solidFill>
              </a:rPr>
              <a:t>Wrong tag; describe pod names it; set image fixes it</a:t>
            </a:r>
            <a:endParaRPr lang="en-US" sz="1500" dirty="0"/>
          </a:p>
        </p:txBody>
      </p:sp>
      <p:sp>
        <p:nvSpPr>
          <p:cNvPr id="8" name="Service with no endpoints circle"/>
          <p:cNvSpPr/>
          <p:nvPr/>
        </p:nvSpPr>
        <p:spPr>
          <a:xfrm>
            <a:off x="5715000" y="2331720"/>
            <a:ext cx="420624" cy="420624"/>
          </a:xfrm>
          <a:prstGeom prst="ellipse">
            <a:avLst/>
          </a:prstGeom>
          <a:solidFill>
            <a:schemeClr val="bg2"/>
          </a:solidFill>
          <a:ln/>
        </p:spPr>
      </p:sp>
      <p:pic>
        <p:nvPicPr>
          <p:cNvPr id="9" name="Service with no endpoints icon" descr="Service with no endpoints">    </p:cNvPr>
          <p:cNvPicPr>
            <a:picLocks noChangeAspect="1"/>
          </p:cNvPicPr>
          <p:nvPr/>
        </p:nvPicPr>
        <p:blipFill>
          <a:blip r:embed="rId2"/>
          <a:stretch>
            <a:fillRect/>
          </a:stretch>
        </p:blipFill>
        <p:spPr>
          <a:xfrm>
            <a:off x="5820156" y="2436876"/>
            <a:ext cx="210312" cy="210312"/>
          </a:xfrm>
          <a:prstGeom prst="rect">
            <a:avLst/>
          </a:prstGeom>
        </p:spPr>
      </p:pic>
      <p:sp>
        <p:nvSpPr>
          <p:cNvPr id="10" name="Service with no endpoints"/>
          <p:cNvSpPr txBox="1"/>
          <p:nvPr/>
        </p:nvSpPr>
        <p:spPr>
          <a:xfrm>
            <a:off x="6281928" y="2295144"/>
            <a:ext cx="2404872" cy="1024128"/>
          </a:xfrm>
          <a:prstGeom prst="rect">
            <a:avLst/>
          </a:prstGeom>
          <a:noFill/>
          <a:ln/>
        </p:spPr>
        <p:txBody>
          <a:bodyPr wrap="square" lIns="0" tIns="0" rIns="0" bIns="0" rtlCol="0" anchor="t"/>
          <a:lstStyle/>
          <a:p>
            <a:pPr indent="0" marL="0">
              <a:buNone/>
            </a:pPr>
            <a:r>
              <a:rPr lang="en-US" sz="1500" b="1" dirty="0">
                <a:solidFill>
                  <a:schemeClr val="tx2"/>
                </a:solidFill>
              </a:rPr>
              <a:t>Service with no endpoints</a:t>
            </a:r>
            <a:endParaRPr lang="en-US" sz="1500" dirty="0"/>
          </a:p>
          <a:p>
            <a:pPr indent="0" marL="0">
              <a:buNone/>
            </a:pPr>
            <a:r>
              <a:rPr lang="en-US" sz="1200" dirty="0">
                <a:solidFill>
                  <a:schemeClr val="accent5"/>
                </a:solidFill>
              </a:rPr>
              <a:t>Selector didn't match the pod labels; patch the selector</a:t>
            </a:r>
            <a:endParaRPr lang="en-US" sz="1500" dirty="0"/>
          </a:p>
        </p:txBody>
      </p:sp>
      <p:sp>
        <p:nvSpPr>
          <p:cNvPr id="11" name="Running but 0/1 Ready circle"/>
          <p:cNvSpPr/>
          <p:nvPr/>
        </p:nvSpPr>
        <p:spPr>
          <a:xfrm>
            <a:off x="5715000" y="3429000"/>
            <a:ext cx="420624" cy="420624"/>
          </a:xfrm>
          <a:prstGeom prst="ellipse">
            <a:avLst/>
          </a:prstGeom>
          <a:solidFill>
            <a:schemeClr val="bg2"/>
          </a:solidFill>
          <a:ln/>
        </p:spPr>
      </p:sp>
      <p:pic>
        <p:nvPicPr>
          <p:cNvPr id="12" name="Running but 0/1 Ready icon" descr="Running but 0/1 Ready">    </p:cNvPr>
          <p:cNvPicPr>
            <a:picLocks noChangeAspect="1"/>
          </p:cNvPicPr>
          <p:nvPr/>
        </p:nvPicPr>
        <p:blipFill>
          <a:blip r:embed="rId3"/>
          <a:stretch>
            <a:fillRect/>
          </a:stretch>
        </p:blipFill>
        <p:spPr>
          <a:xfrm>
            <a:off x="5820156" y="3534156"/>
            <a:ext cx="210312" cy="210312"/>
          </a:xfrm>
          <a:prstGeom prst="rect">
            <a:avLst/>
          </a:prstGeom>
        </p:spPr>
      </p:pic>
      <p:sp>
        <p:nvSpPr>
          <p:cNvPr id="13" name="Running but 0/1 Ready"/>
          <p:cNvSpPr txBox="1"/>
          <p:nvPr/>
        </p:nvSpPr>
        <p:spPr>
          <a:xfrm>
            <a:off x="6281928" y="3392424"/>
            <a:ext cx="2404872" cy="1024128"/>
          </a:xfrm>
          <a:prstGeom prst="rect">
            <a:avLst/>
          </a:prstGeom>
          <a:noFill/>
          <a:ln/>
        </p:spPr>
        <p:txBody>
          <a:bodyPr wrap="square" lIns="0" tIns="0" rIns="0" bIns="0" rtlCol="0" anchor="t"/>
          <a:lstStyle/>
          <a:p>
            <a:pPr indent="0" marL="0">
              <a:buNone/>
            </a:pPr>
            <a:r>
              <a:rPr lang="en-US" sz="1500" b="1" dirty="0">
                <a:solidFill>
                  <a:schemeClr val="tx2"/>
                </a:solidFill>
              </a:rPr>
              <a:t>Running but 0/1 Ready</a:t>
            </a:r>
            <a:endParaRPr lang="en-US" sz="1500" dirty="0"/>
          </a:p>
          <a:p>
            <a:pPr indent="0" marL="0">
              <a:buNone/>
            </a:pPr>
            <a:r>
              <a:rPr lang="en-US" sz="1200" dirty="0">
                <a:solidFill>
                  <a:schemeClr val="accent5"/>
                </a:solidFill>
              </a:rPr>
              <a:t>/ready returns 503 on a bad DB password; no traffic sent</a:t>
            </a:r>
            <a:endParaRPr lang="en-US" sz="1500" dirty="0"/>
          </a:p>
        </p:txBody>
      </p:sp>
      <p:sp>
        <p:nvSpPr>
          <p:cNvPr id="25" name="Slide Number Placeholder 0"/>
          <p:cNvSpPr>
            <a:spLocks noGrp="1"/>
          </p:cNvSpPr>
          <p:nvPr>
            <p:ph type="sldNum" sz="quarter" idx="4294967295"/>
          </p:nvPr>
        </p:nvSpPr>
        <p:spPr>
          <a:xfrm>
            <a:off x="8321040" y="4754880"/>
            <a:ext cx="36576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502920" y="822960"/>
            <a:ext cx="8138160" cy="822960"/>
          </a:xfrm>
          <a:prstGeom prst="rect">
            <a:avLst/>
          </a:prstGeom>
          <a:noFill/>
          <a:ln/>
        </p:spPr>
        <p:txBody>
          <a:bodyPr wrap="square" lIns="0" tIns="0" rIns="0" bIns="0" rtlCol="0" anchor="ctr"/>
          <a:lstStyle/>
          <a:p>
            <a:pPr algn="l" indent="0" marL="0">
              <a:buNone/>
            </a:pPr>
            <a:r>
              <a:rPr lang="en-US" sz="3400" b="1" dirty="0">
                <a:solidFill>
                  <a:schemeClr val="bg1"/>
                </a:solidFill>
              </a:rPr>
              <a:t>Every step automated and observable</a:t>
            </a:r>
            <a:endParaRPr lang="en-US" sz="3400" dirty="0"/>
          </a:p>
        </p:txBody>
      </p:sp>
      <p:sp>
        <p:nvSpPr>
          <p:cNvPr id="3" name="automated tests tile"/>
          <p:cNvSpPr/>
          <p:nvPr/>
        </p:nvSpPr>
        <p:spPr>
          <a:xfrm>
            <a:off x="502920" y="2011680"/>
            <a:ext cx="1892808" cy="1325880"/>
          </a:xfrm>
          <a:prstGeom prst="roundRect">
            <a:avLst>
              <a:gd name="adj" fmla="val 5517"/>
            </a:avLst>
          </a:prstGeom>
          <a:solidFill>
            <a:srgbClr val="16474A"/>
          </a:solidFill>
          <a:ln/>
        </p:spPr>
      </p:sp>
      <p:sp>
        <p:nvSpPr>
          <p:cNvPr id="4" name="automated tests"/>
          <p:cNvSpPr txBox="1"/>
          <p:nvPr/>
        </p:nvSpPr>
        <p:spPr>
          <a:xfrm>
            <a:off x="685800" y="2103120"/>
            <a:ext cx="1600200" cy="1143000"/>
          </a:xfrm>
          <a:prstGeom prst="rect">
            <a:avLst/>
          </a:prstGeom>
          <a:noFill/>
          <a:ln/>
        </p:spPr>
        <p:txBody>
          <a:bodyPr wrap="square" lIns="0" tIns="0" rIns="0" bIns="0" rtlCol="0" anchor="ctr"/>
          <a:lstStyle/>
          <a:p>
            <a:pPr indent="0" marL="0">
              <a:buNone/>
            </a:pPr>
            <a:r>
              <a:rPr lang="en-US" sz="3200" b="1" dirty="0">
                <a:solidFill>
                  <a:schemeClr val="accent2"/>
                </a:solidFill>
              </a:rPr>
              <a:t>21</a:t>
            </a:r>
            <a:endParaRPr lang="en-US" sz="3200" dirty="0"/>
          </a:p>
          <a:p>
            <a:pPr indent="0" marL="0">
              <a:buNone/>
            </a:pPr>
            <a:r>
              <a:rPr lang="en-US" sz="1200" dirty="0">
                <a:solidFill>
                  <a:schemeClr val="accent6"/>
                </a:solidFill>
              </a:rPr>
              <a:t>automated tests</a:t>
            </a:r>
            <a:endParaRPr lang="en-US" sz="3200" dirty="0"/>
          </a:p>
        </p:txBody>
      </p:sp>
      <p:sp>
        <p:nvSpPr>
          <p:cNvPr id="5" name="HIGH/CRITICAL CVEs tile"/>
          <p:cNvSpPr/>
          <p:nvPr/>
        </p:nvSpPr>
        <p:spPr>
          <a:xfrm>
            <a:off x="2578608" y="2011680"/>
            <a:ext cx="1892808" cy="1325880"/>
          </a:xfrm>
          <a:prstGeom prst="roundRect">
            <a:avLst>
              <a:gd name="adj" fmla="val 5517"/>
            </a:avLst>
          </a:prstGeom>
          <a:solidFill>
            <a:srgbClr val="16474A"/>
          </a:solidFill>
          <a:ln/>
        </p:spPr>
      </p:sp>
      <p:sp>
        <p:nvSpPr>
          <p:cNvPr id="6" name="HIGH/CRITICAL CVEs"/>
          <p:cNvSpPr txBox="1"/>
          <p:nvPr/>
        </p:nvSpPr>
        <p:spPr>
          <a:xfrm>
            <a:off x="2761488" y="2103120"/>
            <a:ext cx="1600200" cy="1143000"/>
          </a:xfrm>
          <a:prstGeom prst="rect">
            <a:avLst/>
          </a:prstGeom>
          <a:noFill/>
          <a:ln/>
        </p:spPr>
        <p:txBody>
          <a:bodyPr wrap="square" lIns="0" tIns="0" rIns="0" bIns="0" rtlCol="0" anchor="ctr"/>
          <a:lstStyle/>
          <a:p>
            <a:pPr indent="0" marL="0">
              <a:buNone/>
            </a:pPr>
            <a:r>
              <a:rPr lang="en-US" sz="3200" b="1" dirty="0">
                <a:solidFill>
                  <a:schemeClr val="accent2"/>
                </a:solidFill>
              </a:rPr>
              <a:t>0</a:t>
            </a:r>
            <a:endParaRPr lang="en-US" sz="3200" dirty="0"/>
          </a:p>
          <a:p>
            <a:pPr indent="0" marL="0">
              <a:buNone/>
            </a:pPr>
            <a:r>
              <a:rPr lang="en-US" sz="1200" dirty="0">
                <a:solidFill>
                  <a:schemeClr val="accent6"/>
                </a:solidFill>
              </a:rPr>
              <a:t>HIGH/CRITICAL CVEs</a:t>
            </a:r>
            <a:endParaRPr lang="en-US" sz="3200" dirty="0"/>
          </a:p>
        </p:txBody>
      </p:sp>
      <p:sp>
        <p:nvSpPr>
          <p:cNvPr id="7" name="AWS resources tile"/>
          <p:cNvSpPr/>
          <p:nvPr/>
        </p:nvSpPr>
        <p:spPr>
          <a:xfrm>
            <a:off x="4654296" y="2011680"/>
            <a:ext cx="1892808" cy="1325880"/>
          </a:xfrm>
          <a:prstGeom prst="roundRect">
            <a:avLst>
              <a:gd name="adj" fmla="val 5517"/>
            </a:avLst>
          </a:prstGeom>
          <a:solidFill>
            <a:srgbClr val="16474A"/>
          </a:solidFill>
          <a:ln/>
        </p:spPr>
      </p:sp>
      <p:sp>
        <p:nvSpPr>
          <p:cNvPr id="8" name="AWS resources"/>
          <p:cNvSpPr txBox="1"/>
          <p:nvPr/>
        </p:nvSpPr>
        <p:spPr>
          <a:xfrm>
            <a:off x="4837176" y="2103120"/>
            <a:ext cx="1600200" cy="1143000"/>
          </a:xfrm>
          <a:prstGeom prst="rect">
            <a:avLst/>
          </a:prstGeom>
          <a:noFill/>
          <a:ln/>
        </p:spPr>
        <p:txBody>
          <a:bodyPr wrap="square" lIns="0" tIns="0" rIns="0" bIns="0" rtlCol="0" anchor="ctr"/>
          <a:lstStyle/>
          <a:p>
            <a:pPr indent="0" marL="0">
              <a:buNone/>
            </a:pPr>
            <a:r>
              <a:rPr lang="en-US" sz="3200" b="1" dirty="0">
                <a:solidFill>
                  <a:schemeClr val="accent2"/>
                </a:solidFill>
              </a:rPr>
              <a:t>64</a:t>
            </a:r>
            <a:endParaRPr lang="en-US" sz="3200" dirty="0"/>
          </a:p>
          <a:p>
            <a:pPr indent="0" marL="0">
              <a:buNone/>
            </a:pPr>
            <a:r>
              <a:rPr lang="en-US" sz="1200" dirty="0">
                <a:solidFill>
                  <a:schemeClr val="accent6"/>
                </a:solidFill>
              </a:rPr>
              <a:t>AWS resources</a:t>
            </a:r>
            <a:endParaRPr lang="en-US" sz="3200" dirty="0"/>
          </a:p>
        </p:txBody>
      </p:sp>
      <p:sp>
        <p:nvSpPr>
          <p:cNvPr id="9" name="pods autoscaled tile"/>
          <p:cNvSpPr/>
          <p:nvPr/>
        </p:nvSpPr>
        <p:spPr>
          <a:xfrm>
            <a:off x="6729984" y="2011680"/>
            <a:ext cx="1892808" cy="1325880"/>
          </a:xfrm>
          <a:prstGeom prst="roundRect">
            <a:avLst>
              <a:gd name="adj" fmla="val 5517"/>
            </a:avLst>
          </a:prstGeom>
          <a:solidFill>
            <a:srgbClr val="16474A"/>
          </a:solidFill>
          <a:ln/>
        </p:spPr>
      </p:sp>
      <p:sp>
        <p:nvSpPr>
          <p:cNvPr id="10" name="pods autoscaled"/>
          <p:cNvSpPr txBox="1"/>
          <p:nvPr/>
        </p:nvSpPr>
        <p:spPr>
          <a:xfrm>
            <a:off x="6912864" y="2103120"/>
            <a:ext cx="1600200" cy="1143000"/>
          </a:xfrm>
          <a:prstGeom prst="rect">
            <a:avLst/>
          </a:prstGeom>
          <a:noFill/>
          <a:ln/>
        </p:spPr>
        <p:txBody>
          <a:bodyPr wrap="square" lIns="0" tIns="0" rIns="0" bIns="0" rtlCol="0" anchor="ctr"/>
          <a:lstStyle/>
          <a:p>
            <a:pPr indent="0" marL="0">
              <a:buNone/>
            </a:pPr>
            <a:r>
              <a:rPr lang="en-US" sz="3200" b="1" dirty="0">
                <a:solidFill>
                  <a:schemeClr val="accent2"/>
                </a:solidFill>
              </a:rPr>
              <a:t>2 → 6</a:t>
            </a:r>
            <a:endParaRPr lang="en-US" sz="3200" dirty="0"/>
          </a:p>
          <a:p>
            <a:pPr indent="0" marL="0">
              <a:buNone/>
            </a:pPr>
            <a:r>
              <a:rPr lang="en-US" sz="1200" dirty="0">
                <a:solidFill>
                  <a:schemeClr val="accent6"/>
                </a:solidFill>
              </a:rPr>
              <a:t>pods autoscaled</a:t>
            </a:r>
            <a:endParaRPr lang="en-US" sz="3200" dirty="0"/>
          </a:p>
        </p:txBody>
      </p:sp>
      <p:sp>
        <p:nvSpPr>
          <p:cNvPr id="11" name="repo link"/>
          <p:cNvSpPr txBox="1"/>
          <p:nvPr/>
        </p:nvSpPr>
        <p:spPr>
          <a:xfrm>
            <a:off x="502920" y="3886200"/>
            <a:ext cx="8138160" cy="640080"/>
          </a:xfrm>
          <a:prstGeom prst="rect">
            <a:avLst/>
          </a:prstGeom>
          <a:noFill/>
          <a:ln/>
        </p:spPr>
        <p:txBody>
          <a:bodyPr wrap="square" lIns="0" tIns="0" rIns="0" bIns="0" rtlCol="0" anchor="ctr"/>
          <a:lstStyle/>
          <a:p>
            <a:pPr indent="0" marL="0">
              <a:buNone/>
            </a:pPr>
            <a:r>
              <a:rPr lang="en-US" sz="1500" b="1" dirty="0">
                <a:solidFill>
                  <a:schemeClr val="accent6"/>
                </a:solidFill>
              </a:rPr>
              <a:t>github.com/16pragyatripathi/devops-capstone-stockpilot</a:t>
            </a:r>
            <a:endParaRPr lang="en-US" sz="1500" dirty="0"/>
          </a:p>
          <a:p>
            <a:pPr indent="0" marL="0">
              <a:buNone/>
            </a:pPr>
            <a:r>
              <a:rPr lang="en-US" sz="1200" dirty="0">
                <a:solidFill>
                  <a:schemeClr val="bg1"/>
                </a:solidFill>
              </a:rPr>
              <a:t>Pragya Tripathi  ·  Roll No 10032</a:t>
            </a:r>
            <a:endParaRPr lang="en-US" sz="1500" dirty="0"/>
          </a:p>
        </p:txBody>
      </p:sp>
    </p:spTree>
  </p:cSld>
  <p:clrMapOvr>
    <a:masterClrMapping/>
  </p:clrMapOvr>
</p:sld>
</file>

<file path=ppt/theme/theme1.xml><?xml version="1.0" encoding="utf-8"?>
<a:theme xmlns:a="http://schemas.openxmlformats.org/drawingml/2006/main" name="StockPilot Teal">
  <a:themeElements>
    <a:clrScheme name="StockPilot Teal">
      <a:dk1>
        <a:srgbClr val="15252B"/>
      </a:dk1>
      <a:lt1>
        <a:srgbClr val="FFFFFF"/>
      </a:lt1>
      <a:dk2>
        <a:srgbClr val="0C3437"/>
      </a:dk2>
      <a:lt2>
        <a:srgbClr val="EAF4F1"/>
      </a:lt2>
      <a:accent1>
        <a:srgbClr val="0E7C6B"/>
      </a:accent1>
      <a:accent2>
        <a:srgbClr val="F2A33A"/>
      </a:accent2>
      <a:accent3>
        <a:srgbClr val="1F5E8C"/>
      </a:accent3>
      <a:accent4>
        <a:srgbClr val="D2513E"/>
      </a:accent4>
      <a:accent5>
        <a:srgbClr val="5E7178"/>
      </a:accent5>
      <a:accent6>
        <a:srgbClr val="8FD3C1"/>
      </a:accent6>
      <a:hlink>
        <a:srgbClr val="0E7C6B"/>
      </a:hlink>
      <a:folHlink>
        <a:srgbClr val="5E7178"/>
      </a:folHlink>
    </a:clrScheme>
    <a:fontScheme name="StockPilot Teal">
      <a:majorFont>
        <a:latin typeface="Calibri"/>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9</Slides>
  <Notes>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9</vt:i4>
      </vt:variant>
    </vt:vector>
  </HeadingPairs>
  <TitlesOfParts>
    <vt:vector size="1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StockPilot - DevOps Final Capstone</dc:title>
  <dc:subject>Inventory management delivered from Git to AWS EKS</dc:subject>
  <dc:creator>Pragya Tripathi</dc:creator>
  <cp:lastModifiedBy>Pragya Tripathi</cp:lastModifiedBy>
  <cp:revision>1</cp:revision>
  <dcterms:created xsi:type="dcterms:W3CDTF">2026-10-27T06:09:39Z</dcterms:created>
  <dcterms:modified xsi:type="dcterms:W3CDTF">2026-10-27T06:09:39Z</dcterms:modified>
</cp:coreProperties>
</file>